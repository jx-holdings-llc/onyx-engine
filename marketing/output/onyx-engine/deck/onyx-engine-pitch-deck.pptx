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Onyx Engine: One model per process. Nothing fetched on a request's behalf.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this project closes.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capabilities, each from the README.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HTTP surface; docs/api.md has every field.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taken from the README.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OpenAI-compatible client works unchanged.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and go.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-glow"/>
          <p:cNvSpPr/>
          <p:nvPr/>
        </p:nvSpPr>
        <p:spPr>
          <a:xfrm>
            <a:off x="4445000" y="-3175000"/>
            <a:ext cx="12065000" cy="12065000"/>
          </a:xfrm>
          <a:prstGeom prst="rect">
            <a:avLst/>
          </a:prstGeom>
          <a:gradFill rotWithShape="1">
            <a:gsLst>
              <a:gs pos="0">
                <a:srgbClr val="2DD4BF">
                  <a:alpha val="31373"/>
                </a:srgbClr>
              </a:gs>
              <a:gs pos="42426">
                <a:srgbClr val="2DD4BF">
                  <a:alpha val="6275"/>
                </a:srgbClr>
              </a:gs>
              <a:gs pos="70711">
                <a:srgbClr val="2DD4BF">
                  <a:alpha val="0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bd-grid-row" descr="bd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11677650" cy="6496050"/>
          </a:xfrm>
          <a:prstGeom prst="rect">
            <a:avLst/>
          </a:prstGeom>
        </p:spPr>
      </p:pic>
      <p:grpSp>
        <p:nvGrpSpPr>
          <p:cNvPr id="13" name="t-logo"/>
          <p:cNvGrpSpPr/>
          <p:nvPr/>
        </p:nvGrpSpPr>
        <p:grpSpPr>
          <a:xfrm>
            <a:off x="889000" y="952500"/>
            <a:ext cx="2432050" cy="571500"/>
            <a:chOff x="0" y="0"/>
            <a:chExt cx="2432050" cy="571500"/>
          </a:xfrm>
        </p:grpSpPr>
        <p:grpSp>
          <p:nvGrpSpPr>
            <p:cNvPr id="11" name="t-logo-mark"/>
            <p:cNvGrpSpPr/>
            <p:nvPr/>
          </p:nvGrpSpPr>
          <p:grpSpPr>
            <a:xfrm>
              <a:off x="0" y="0"/>
              <a:ext cx="533400" cy="571500"/>
              <a:chOff x="0" y="0"/>
              <a:chExt cx="533400" cy="571500"/>
            </a:xfrm>
          </p:grpSpPr>
          <p:sp>
            <p:nvSpPr>
              <p:cNvPr id="4" name="t-logo-mark-f0"/>
              <p:cNvSpPr/>
              <p:nvPr/>
            </p:nvSpPr>
            <p:spPr>
              <a:xfrm>
                <a:off x="0" y="0"/>
                <a:ext cx="533400" cy="198755"/>
              </a:xfrm>
              <a:custGeom>
                <a:avLst/>
                <a:gdLst/>
                <a:ahLst/>
                <a:cxnLst/>
                <a:rect l="0" t="0" r="r" b="b"/>
                <a:pathLst>
                  <a:path w="8400" h="3130">
                    <a:moveTo>
                      <a:pt x="4500" y="0"/>
                    </a:moveTo>
                    <a:lnTo>
                      <a:pt x="8400" y="2250"/>
                    </a:lnTo>
                    <a:lnTo>
                      <a:pt x="6450" y="3130"/>
                    </a:lnTo>
                    <a:lnTo>
                      <a:pt x="4500" y="2110"/>
                    </a:lnTo>
                    <a:lnTo>
                      <a:pt x="45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t-logo-mark-f1"/>
              <p:cNvSpPr/>
              <p:nvPr/>
            </p:nvSpPr>
            <p:spPr>
              <a:xfrm>
                <a:off x="0" y="0"/>
                <a:ext cx="533400" cy="428625"/>
              </a:xfrm>
              <a:custGeom>
                <a:avLst/>
                <a:gdLst/>
                <a:ahLst/>
                <a:cxnLst/>
                <a:rect l="0" t="0" r="r" b="b"/>
                <a:pathLst>
                  <a:path w="8400" h="6750">
                    <a:moveTo>
                      <a:pt x="8400" y="2250"/>
                    </a:moveTo>
                    <a:lnTo>
                      <a:pt x="8400" y="6750"/>
                    </a:lnTo>
                    <a:lnTo>
                      <a:pt x="6450" y="5150"/>
                    </a:lnTo>
                    <a:lnTo>
                      <a:pt x="6450" y="3130"/>
                    </a:lnTo>
                    <a:lnTo>
                      <a:pt x="8400" y="225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t-logo-mark-f2"/>
              <p:cNvSpPr/>
              <p:nvPr/>
            </p:nvSpPr>
            <p:spPr>
              <a:xfrm>
                <a:off x="0" y="0"/>
                <a:ext cx="533400" cy="571500"/>
              </a:xfrm>
              <a:custGeom>
                <a:avLst/>
                <a:gdLst/>
                <a:ahLst/>
                <a:cxnLst/>
                <a:rect l="0" t="0" r="r" b="b"/>
                <a:pathLst>
                  <a:path w="8400" h="9000">
                    <a:moveTo>
                      <a:pt x="8400" y="6750"/>
                    </a:moveTo>
                    <a:lnTo>
                      <a:pt x="4500" y="9000"/>
                    </a:lnTo>
                    <a:lnTo>
                      <a:pt x="4500" y="6160"/>
                    </a:lnTo>
                    <a:lnTo>
                      <a:pt x="6450" y="5150"/>
                    </a:lnTo>
                    <a:lnTo>
                      <a:pt x="8400" y="675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t-logo-mark-f3"/>
              <p:cNvSpPr/>
              <p:nvPr/>
            </p:nvSpPr>
            <p:spPr>
              <a:xfrm>
                <a:off x="0" y="0"/>
                <a:ext cx="285750" cy="571500"/>
              </a:xfrm>
              <a:custGeom>
                <a:avLst/>
                <a:gdLst/>
                <a:ahLst/>
                <a:cxnLst/>
                <a:rect l="0" t="0" r="r" b="b"/>
                <a:pathLst>
                  <a:path w="4500" h="9000">
                    <a:moveTo>
                      <a:pt x="4500" y="9000"/>
                    </a:moveTo>
                    <a:lnTo>
                      <a:pt x="600" y="6750"/>
                    </a:lnTo>
                    <a:lnTo>
                      <a:pt x="2550" y="5150"/>
                    </a:lnTo>
                    <a:lnTo>
                      <a:pt x="4500" y="6160"/>
                    </a:lnTo>
                    <a:lnTo>
                      <a:pt x="4500" y="9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t-logo-mark-f4"/>
              <p:cNvSpPr/>
              <p:nvPr/>
            </p:nvSpPr>
            <p:spPr>
              <a:xfrm>
                <a:off x="0" y="0"/>
                <a:ext cx="161925" cy="428625"/>
              </a:xfrm>
              <a:custGeom>
                <a:avLst/>
                <a:gdLst/>
                <a:ahLst/>
                <a:cxnLst/>
                <a:rect l="0" t="0" r="r" b="b"/>
                <a:pathLst>
                  <a:path w="2550" h="6750">
                    <a:moveTo>
                      <a:pt x="600" y="6750"/>
                    </a:moveTo>
                    <a:lnTo>
                      <a:pt x="600" y="2250"/>
                    </a:lnTo>
                    <a:lnTo>
                      <a:pt x="2550" y="3130"/>
                    </a:lnTo>
                    <a:lnTo>
                      <a:pt x="2550" y="5150"/>
                    </a:lnTo>
                    <a:lnTo>
                      <a:pt x="600" y="675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t-logo-mark-f5"/>
              <p:cNvSpPr/>
              <p:nvPr/>
            </p:nvSpPr>
            <p:spPr>
              <a:xfrm>
                <a:off x="0" y="0"/>
                <a:ext cx="285750" cy="198755"/>
              </a:xfrm>
              <a:custGeom>
                <a:avLst/>
                <a:gdLst/>
                <a:ahLst/>
                <a:cxnLst/>
                <a:rect l="0" t="0" r="r" b="b"/>
                <a:pathLst>
                  <a:path w="4500" h="3130">
                    <a:moveTo>
                      <a:pt x="600" y="2250"/>
                    </a:moveTo>
                    <a:lnTo>
                      <a:pt x="4500" y="0"/>
                    </a:lnTo>
                    <a:lnTo>
                      <a:pt x="4500" y="2110"/>
                    </a:lnTo>
                    <a:lnTo>
                      <a:pt x="2550" y="3130"/>
                    </a:lnTo>
                    <a:lnTo>
                      <a:pt x="600" y="225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t-logo-mark-table"/>
              <p:cNvSpPr/>
              <p:nvPr/>
            </p:nvSpPr>
            <p:spPr>
              <a:xfrm>
                <a:off x="0" y="0"/>
                <a:ext cx="409575" cy="391160"/>
              </a:xfrm>
              <a:custGeom>
                <a:avLst/>
                <a:gdLst/>
                <a:ahLst/>
                <a:cxnLst/>
                <a:rect l="0" t="0" r="r" b="b"/>
                <a:pathLst>
                  <a:path w="6450" h="6160">
                    <a:moveTo>
                      <a:pt x="4500" y="2110"/>
                    </a:moveTo>
                    <a:lnTo>
                      <a:pt x="6450" y="3130"/>
                    </a:lnTo>
                    <a:lnTo>
                      <a:pt x="6450" y="5150"/>
                    </a:lnTo>
                    <a:lnTo>
                      <a:pt x="4500" y="6160"/>
                    </a:lnTo>
                    <a:lnTo>
                      <a:pt x="2550" y="5150"/>
                    </a:lnTo>
                    <a:lnTo>
                      <a:pt x="2550" y="3130"/>
                    </a:lnTo>
                    <a:lnTo>
                      <a:pt x="4500" y="211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t-logo-word"/>
            <p:cNvSpPr txBox="1"/>
            <p:nvPr/>
          </p:nvSpPr>
          <p:spPr>
            <a:xfrm>
              <a:off x="711200" y="78327"/>
              <a:ext cx="2151062" cy="3979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3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225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2250" dirty="0"/>
            </a:p>
          </p:txBody>
        </p:sp>
      </p:grpSp>
      <p:grpSp>
        <p:nvGrpSpPr>
          <p:cNvPr id="21" name="t-big"/>
          <p:cNvGrpSpPr/>
          <p:nvPr/>
        </p:nvGrpSpPr>
        <p:grpSpPr>
          <a:xfrm>
            <a:off x="7747000" y="1397000"/>
            <a:ext cx="3317875" cy="3556000"/>
            <a:chOff x="0" y="0"/>
            <a:chExt cx="3317875" cy="3556000"/>
          </a:xfrm>
        </p:grpSpPr>
        <p:sp>
          <p:nvSpPr>
            <p:cNvPr id="14" name="t-big-f0"/>
            <p:cNvSpPr/>
            <p:nvPr/>
          </p:nvSpPr>
          <p:spPr>
            <a:xfrm>
              <a:off x="0" y="0"/>
              <a:ext cx="3317875" cy="1235710"/>
            </a:xfrm>
            <a:custGeom>
              <a:avLst/>
              <a:gdLst/>
              <a:ahLst/>
              <a:cxnLst/>
              <a:rect l="0" t="0" r="r" b="b"/>
              <a:pathLst>
                <a:path w="52250" h="19460">
                  <a:moveTo>
                    <a:pt x="28000" y="0"/>
                  </a:moveTo>
                  <a:lnTo>
                    <a:pt x="52250" y="14000"/>
                  </a:lnTo>
                  <a:lnTo>
                    <a:pt x="40120" y="19460"/>
                  </a:lnTo>
                  <a:lnTo>
                    <a:pt x="28000" y="13160"/>
                  </a:lnTo>
                  <a:lnTo>
                    <a:pt x="28000" y="0"/>
                  </a:lnTo>
                  <a:close/>
                </a:path>
              </a:pathLst>
            </a:custGeom>
            <a:solidFill>
              <a:srgbClr val="1D4A47"/>
            </a:solidFill>
            <a:ln w="44450">
              <a:solidFill>
                <a:srgbClr val="2DD4BF"/>
              </a:solidFill>
            </a:ln>
          </p:spPr>
        </p:sp>
        <p:sp>
          <p:nvSpPr>
            <p:cNvPr id="15" name="t-big-f1"/>
            <p:cNvSpPr/>
            <p:nvPr/>
          </p:nvSpPr>
          <p:spPr>
            <a:xfrm>
              <a:off x="0" y="0"/>
              <a:ext cx="3317875" cy="2667000"/>
            </a:xfrm>
            <a:custGeom>
              <a:avLst/>
              <a:gdLst/>
              <a:ahLst/>
              <a:cxnLst/>
              <a:rect l="0" t="0" r="r" b="b"/>
              <a:pathLst>
                <a:path w="52250" h="42000">
                  <a:moveTo>
                    <a:pt x="52250" y="14000"/>
                  </a:moveTo>
                  <a:lnTo>
                    <a:pt x="52250" y="42000"/>
                  </a:lnTo>
                  <a:lnTo>
                    <a:pt x="40120" y="32060"/>
                  </a:lnTo>
                  <a:lnTo>
                    <a:pt x="40120" y="19460"/>
                  </a:lnTo>
                  <a:lnTo>
                    <a:pt x="52250" y="14000"/>
                  </a:lnTo>
                  <a:close/>
                </a:path>
              </a:pathLst>
            </a:custGeom>
            <a:solidFill>
              <a:srgbClr val="16262B"/>
            </a:solidFill>
            <a:ln w="444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16" name="t-big-f2"/>
            <p:cNvSpPr/>
            <p:nvPr/>
          </p:nvSpPr>
          <p:spPr>
            <a:xfrm>
              <a:off x="0" y="0"/>
              <a:ext cx="3317875" cy="3556000"/>
            </a:xfrm>
            <a:custGeom>
              <a:avLst/>
              <a:gdLst/>
              <a:ahLst/>
              <a:cxnLst/>
              <a:rect l="0" t="0" r="r" b="b"/>
              <a:pathLst>
                <a:path w="52250" h="56000">
                  <a:moveTo>
                    <a:pt x="52250" y="42000"/>
                  </a:moveTo>
                  <a:lnTo>
                    <a:pt x="28000" y="56000"/>
                  </a:lnTo>
                  <a:lnTo>
                    <a:pt x="28000" y="38360"/>
                  </a:lnTo>
                  <a:lnTo>
                    <a:pt x="40120" y="32060"/>
                  </a:lnTo>
                  <a:lnTo>
                    <a:pt x="52250" y="42000"/>
                  </a:lnTo>
                  <a:close/>
                </a:path>
              </a:pathLst>
            </a:custGeom>
            <a:solidFill>
              <a:srgbClr val="0E1518"/>
            </a:solidFill>
            <a:ln w="444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17" name="t-big-f3"/>
            <p:cNvSpPr/>
            <p:nvPr/>
          </p:nvSpPr>
          <p:spPr>
            <a:xfrm>
              <a:off x="0" y="0"/>
              <a:ext cx="1778000" cy="3556000"/>
            </a:xfrm>
            <a:custGeom>
              <a:avLst/>
              <a:gdLst/>
              <a:ahLst/>
              <a:cxnLst/>
              <a:rect l="0" t="0" r="r" b="b"/>
              <a:pathLst>
                <a:path w="28000" h="56000">
                  <a:moveTo>
                    <a:pt x="28000" y="56000"/>
                  </a:moveTo>
                  <a:lnTo>
                    <a:pt x="3750" y="42000"/>
                  </a:lnTo>
                  <a:lnTo>
                    <a:pt x="15880" y="32060"/>
                  </a:lnTo>
                  <a:lnTo>
                    <a:pt x="28000" y="38360"/>
                  </a:lnTo>
                  <a:lnTo>
                    <a:pt x="28000" y="56000"/>
                  </a:lnTo>
                  <a:close/>
                </a:path>
              </a:pathLst>
            </a:custGeom>
            <a:solidFill>
              <a:srgbClr val="070B0D"/>
            </a:solidFill>
            <a:ln w="444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18" name="t-big-f4"/>
            <p:cNvSpPr/>
            <p:nvPr/>
          </p:nvSpPr>
          <p:spPr>
            <a:xfrm>
              <a:off x="0" y="0"/>
              <a:ext cx="1008380" cy="2667000"/>
            </a:xfrm>
            <a:custGeom>
              <a:avLst/>
              <a:gdLst/>
              <a:ahLst/>
              <a:cxnLst/>
              <a:rect l="0" t="0" r="r" b="b"/>
              <a:pathLst>
                <a:path w="15880" h="42000">
                  <a:moveTo>
                    <a:pt x="3750" y="42000"/>
                  </a:moveTo>
                  <a:lnTo>
                    <a:pt x="3750" y="14000"/>
                  </a:lnTo>
                  <a:lnTo>
                    <a:pt x="15880" y="19460"/>
                  </a:lnTo>
                  <a:lnTo>
                    <a:pt x="15880" y="32060"/>
                  </a:lnTo>
                  <a:lnTo>
                    <a:pt x="3750" y="42000"/>
                  </a:lnTo>
                  <a:close/>
                </a:path>
              </a:pathLst>
            </a:custGeom>
            <a:solidFill>
              <a:srgbClr val="0B1114"/>
            </a:solidFill>
            <a:ln w="444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19" name="t-big-f5"/>
            <p:cNvSpPr/>
            <p:nvPr/>
          </p:nvSpPr>
          <p:spPr>
            <a:xfrm>
              <a:off x="0" y="0"/>
              <a:ext cx="1778000" cy="1235710"/>
            </a:xfrm>
            <a:custGeom>
              <a:avLst/>
              <a:gdLst/>
              <a:ahLst/>
              <a:cxnLst/>
              <a:rect l="0" t="0" r="r" b="b"/>
              <a:pathLst>
                <a:path w="28000" h="19460">
                  <a:moveTo>
                    <a:pt x="3750" y="14000"/>
                  </a:moveTo>
                  <a:lnTo>
                    <a:pt x="28000" y="0"/>
                  </a:lnTo>
                  <a:lnTo>
                    <a:pt x="28000" y="13160"/>
                  </a:lnTo>
                  <a:lnTo>
                    <a:pt x="15880" y="19460"/>
                  </a:lnTo>
                  <a:lnTo>
                    <a:pt x="3750" y="14000"/>
                  </a:lnTo>
                  <a:close/>
                </a:path>
              </a:pathLst>
            </a:custGeom>
            <a:solidFill>
              <a:srgbClr val="1A2E33"/>
            </a:solidFill>
            <a:ln w="44450">
              <a:solidFill>
                <a:srgbClr val="2DD4BF"/>
              </a:solidFill>
            </a:ln>
          </p:spPr>
        </p:sp>
        <p:sp>
          <p:nvSpPr>
            <p:cNvPr id="20" name="t-big-table"/>
            <p:cNvSpPr/>
            <p:nvPr/>
          </p:nvSpPr>
          <p:spPr>
            <a:xfrm>
              <a:off x="0" y="0"/>
              <a:ext cx="2547620" cy="2435860"/>
            </a:xfrm>
            <a:custGeom>
              <a:avLst/>
              <a:gdLst/>
              <a:ahLst/>
              <a:cxnLst/>
              <a:rect l="0" t="0" r="r" b="b"/>
              <a:pathLst>
                <a:path w="40120" h="38360">
                  <a:moveTo>
                    <a:pt x="28000" y="13160"/>
                  </a:moveTo>
                  <a:lnTo>
                    <a:pt x="40120" y="19460"/>
                  </a:lnTo>
                  <a:lnTo>
                    <a:pt x="40120" y="32060"/>
                  </a:lnTo>
                  <a:lnTo>
                    <a:pt x="28000" y="38360"/>
                  </a:lnTo>
                  <a:lnTo>
                    <a:pt x="15880" y="32060"/>
                  </a:lnTo>
                  <a:lnTo>
                    <a:pt x="15880" y="19460"/>
                  </a:lnTo>
                  <a:lnTo>
                    <a:pt x="28000" y="13160"/>
                  </a:lnTo>
                  <a:close/>
                </a:path>
              </a:pathLst>
            </a:custGeom>
            <a:solidFill>
              <a:srgbClr val="0A1013"/>
            </a:solidFill>
            <a:ln w="57150">
              <a:solidFill>
                <a:srgbClr val="99F6E4"/>
              </a:solidFill>
            </a:ln>
          </p:spPr>
        </p:sp>
      </p:grpSp>
      <p:sp>
        <p:nvSpPr>
          <p:cNvPr id="22" name="t-title"/>
          <p:cNvSpPr>
            <a:spLocks noGrp="1"/>
          </p:cNvSpPr>
          <p:nvPr>
            <p:ph type="title"/>
          </p:nvPr>
        </p:nvSpPr>
        <p:spPr>
          <a:xfrm>
            <a:off x="889000" y="2661412"/>
            <a:ext cx="6588125" cy="21772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One model.</a:t>
            </a:r>
            <a:endParaRPr lang="en-US" sz="6000" dirty="0"/>
          </a:p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One process.</a:t>
            </a:r>
            <a:endParaRPr lang="en-US" sz="6000" dirty="0"/>
          </a:p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OpenAI-ready.</a:t>
            </a:r>
            <a:endParaRPr lang="en-US" sz="6000" dirty="0"/>
          </a:p>
        </p:txBody>
      </p:sp>
      <p:sp>
        <p:nvSpPr>
          <p:cNvPr id="23" name="t-sub"/>
          <p:cNvSpPr txBox="1"/>
          <p:nvPr/>
        </p:nvSpPr>
        <p:spPr>
          <a:xfrm>
            <a:off x="889000" y="5148961"/>
            <a:ext cx="8715375" cy="2548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One model per process. Nothing fetched on a request's behalf.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6678"/>
            <a:ext cx="32385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pr-kicker"/>
          <p:cNvSpPr txBox="1"/>
          <p:nvPr/>
        </p:nvSpPr>
        <p:spPr>
          <a:xfrm>
            <a:off x="889000" y="662178"/>
            <a:ext cx="1262062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THE PROBLEM</a:t>
            </a:r>
            <a:endParaRPr lang="en-US" sz="1200" dirty="0"/>
          </a:p>
        </p:txBody>
      </p:sp>
      <p:sp>
        <p:nvSpPr>
          <p:cNvPr id="15" name="pr-title"/>
          <p:cNvSpPr>
            <a:spLocks noGrp="1"/>
          </p:cNvSpPr>
          <p:nvPr>
            <p:ph type="title"/>
          </p:nvPr>
        </p:nvSpPr>
        <p:spPr>
          <a:xfrm>
            <a:off x="889000" y="1278230"/>
            <a:ext cx="9215438" cy="1160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Serving one model</a:t>
            </a:r>
            <a:endParaRPr lang="en-US" sz="4800" dirty="0"/>
          </a:p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should be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one command.</a:t>
            </a:r>
            <a:endParaRPr lang="en-US" sz="4800" dirty="0"/>
          </a:p>
        </p:txBody>
      </p:sp>
      <p:sp>
        <p:nvSpPr>
          <p:cNvPr id="16" name="pr-card0"/>
          <p:cNvSpPr/>
          <p:nvPr/>
        </p:nvSpPr>
        <p:spPr>
          <a:xfrm>
            <a:off x="901700" y="2895600"/>
            <a:ext cx="3276600" cy="2133600"/>
          </a:xfrm>
          <a:prstGeom prst="roundRect">
            <a:avLst>
              <a:gd name="adj" fmla="val 6845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17" name="pr-n0"/>
          <p:cNvSpPr txBox="1"/>
          <p:nvPr/>
        </p:nvSpPr>
        <p:spPr>
          <a:xfrm>
            <a:off x="1168400" y="3066415"/>
            <a:ext cx="4953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64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01</a:t>
            </a:r>
            <a:endParaRPr lang="en-US" sz="1500" dirty="0"/>
          </a:p>
        </p:txBody>
      </p:sp>
      <p:sp>
        <p:nvSpPr>
          <p:cNvPr id="18" name="pr-t0"/>
          <p:cNvSpPr txBox="1"/>
          <p:nvPr/>
        </p:nvSpPr>
        <p:spPr>
          <a:xfrm>
            <a:off x="1168400" y="3419983"/>
            <a:ext cx="1841500" cy="3138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85"/>
              </a:lnSpc>
              <a:buNone/>
            </a:pPr>
            <a:r>
              <a:rPr lang="en-US" sz="23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Glue code</a:t>
            </a:r>
            <a:endParaRPr lang="en-US" sz="2300" dirty="0"/>
          </a:p>
        </p:txBody>
      </p:sp>
      <p:sp>
        <p:nvSpPr>
          <p:cNvPr id="19" name="pr-d0"/>
          <p:cNvSpPr txBox="1"/>
          <p:nvPr/>
        </p:nvSpPr>
        <p:spPr>
          <a:xfrm>
            <a:off x="1168400" y="4021709"/>
            <a:ext cx="2743200" cy="7598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Wrapping an engine in an OpenAI-shaped API is work every app repeats.</a:t>
            </a:r>
            <a:endParaRPr lang="en-US" sz="1500" dirty="0"/>
          </a:p>
        </p:txBody>
      </p:sp>
      <p:sp>
        <p:nvSpPr>
          <p:cNvPr id="20" name="pr-card1"/>
          <p:cNvSpPr/>
          <p:nvPr/>
        </p:nvSpPr>
        <p:spPr>
          <a:xfrm>
            <a:off x="4457700" y="2895600"/>
            <a:ext cx="3276600" cy="2133600"/>
          </a:xfrm>
          <a:prstGeom prst="roundRect">
            <a:avLst>
              <a:gd name="adj" fmla="val 6845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1" name="pr-n1"/>
          <p:cNvSpPr txBox="1"/>
          <p:nvPr/>
        </p:nvSpPr>
        <p:spPr>
          <a:xfrm>
            <a:off x="4724400" y="3066415"/>
            <a:ext cx="5270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64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02</a:t>
            </a:r>
            <a:endParaRPr lang="en-US" sz="1500" dirty="0"/>
          </a:p>
        </p:txBody>
      </p:sp>
      <p:sp>
        <p:nvSpPr>
          <p:cNvPr id="22" name="pr-t1"/>
          <p:cNvSpPr txBox="1"/>
          <p:nvPr/>
        </p:nvSpPr>
        <p:spPr>
          <a:xfrm>
            <a:off x="4724400" y="3419983"/>
            <a:ext cx="3008312" cy="3709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85"/>
              </a:lnSpc>
              <a:buNone/>
            </a:pPr>
            <a:r>
              <a:rPr lang="en-US" sz="23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Queued requests</a:t>
            </a:r>
            <a:endParaRPr lang="en-US" sz="2300" dirty="0"/>
          </a:p>
        </p:txBody>
      </p:sp>
      <p:sp>
        <p:nvSpPr>
          <p:cNvPr id="23" name="pr-d1"/>
          <p:cNvSpPr txBox="1"/>
          <p:nvPr/>
        </p:nvSpPr>
        <p:spPr>
          <a:xfrm>
            <a:off x="4724400" y="4021709"/>
            <a:ext cx="2743200" cy="7598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One request at a time wastes the hardware you already have.</a:t>
            </a:r>
            <a:endParaRPr lang="en-US" sz="1500" dirty="0"/>
          </a:p>
        </p:txBody>
      </p:sp>
      <p:sp>
        <p:nvSpPr>
          <p:cNvPr id="24" name="pr-card2"/>
          <p:cNvSpPr/>
          <p:nvPr/>
        </p:nvSpPr>
        <p:spPr>
          <a:xfrm>
            <a:off x="8013700" y="2895600"/>
            <a:ext cx="3276600" cy="2133600"/>
          </a:xfrm>
          <a:prstGeom prst="roundRect">
            <a:avLst>
              <a:gd name="adj" fmla="val 6845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5" name="pr-n2"/>
          <p:cNvSpPr txBox="1"/>
          <p:nvPr/>
        </p:nvSpPr>
        <p:spPr>
          <a:xfrm>
            <a:off x="8280400" y="3066415"/>
            <a:ext cx="5270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64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03</a:t>
            </a:r>
            <a:endParaRPr lang="en-US" sz="1500" dirty="0"/>
          </a:p>
        </p:txBody>
      </p:sp>
      <p:sp>
        <p:nvSpPr>
          <p:cNvPr id="26" name="pr-t2"/>
          <p:cNvSpPr txBox="1"/>
          <p:nvPr/>
        </p:nvSpPr>
        <p:spPr>
          <a:xfrm>
            <a:off x="8280400" y="3419983"/>
            <a:ext cx="2659062" cy="3138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85"/>
              </a:lnSpc>
              <a:buNone/>
            </a:pPr>
            <a:r>
              <a:rPr lang="en-US" sz="23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Format friction</a:t>
            </a:r>
            <a:endParaRPr lang="en-US" sz="2300" dirty="0"/>
          </a:p>
        </p:txBody>
      </p:sp>
      <p:sp>
        <p:nvSpPr>
          <p:cNvPr id="27" name="pr-d2"/>
          <p:cNvSpPr txBox="1"/>
          <p:nvPr/>
        </p:nvSpPr>
        <p:spPr>
          <a:xfrm>
            <a:off x="8280400" y="4021709"/>
            <a:ext cx="2743200" cy="10138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A Hugging Face model directory isn't a GGUF file, and conversion drags in torch.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s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fe-kicker"/>
          <p:cNvSpPr txBox="1"/>
          <p:nvPr/>
        </p:nvSpPr>
        <p:spPr>
          <a:xfrm>
            <a:off x="889000" y="662330"/>
            <a:ext cx="1150938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WHAT SHIPS</a:t>
            </a:r>
            <a:endParaRPr lang="en-US" sz="1200" dirty="0"/>
          </a:p>
        </p:txBody>
      </p:sp>
      <p:sp>
        <p:nvSpPr>
          <p:cNvPr id="15" name="fe-title"/>
          <p:cNvSpPr>
            <a:spLocks noGrp="1"/>
          </p:cNvSpPr>
          <p:nvPr>
            <p:ph type="title"/>
          </p:nvPr>
        </p:nvSpPr>
        <p:spPr>
          <a:xfrm>
            <a:off x="889000" y="1278230"/>
            <a:ext cx="6905625" cy="582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Six things,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built in.</a:t>
            </a:r>
            <a:endParaRPr lang="en-US" sz="4800" dirty="0"/>
          </a:p>
        </p:txBody>
      </p:sp>
      <p:sp>
        <p:nvSpPr>
          <p:cNvPr id="16" name="fe-f-card0"/>
          <p:cNvSpPr/>
          <p:nvPr/>
        </p:nvSpPr>
        <p:spPr>
          <a:xfrm>
            <a:off x="901700" y="2254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17" name="fe-f-px0"/>
          <p:cNvSpPr/>
          <p:nvPr/>
        </p:nvSpPr>
        <p:spPr>
          <a:xfrm>
            <a:off x="1193800" y="2603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18" name="fe-f-t0"/>
          <p:cNvSpPr txBox="1"/>
          <p:nvPr/>
        </p:nvSpPr>
        <p:spPr>
          <a:xfrm>
            <a:off x="1485900" y="2458720"/>
            <a:ext cx="3222625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Continuous batching</a:t>
            </a:r>
            <a:endParaRPr lang="en-US" sz="2000" dirty="0"/>
          </a:p>
        </p:txBody>
      </p:sp>
      <p:sp>
        <p:nvSpPr>
          <p:cNvPr id="19" name="fe-f-d0"/>
          <p:cNvSpPr txBox="1"/>
          <p:nvPr/>
        </p:nvSpPr>
        <p:spPr>
          <a:xfrm>
            <a:off x="1485900" y="2933236"/>
            <a:ext cx="2298700" cy="1003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--parallel N slots share one batch per tick, so requests generate together.</a:t>
            </a:r>
            <a:endParaRPr lang="en-US" sz="1450" dirty="0"/>
          </a:p>
        </p:txBody>
      </p:sp>
      <p:sp>
        <p:nvSpPr>
          <p:cNvPr id="20" name="fe-f-card1"/>
          <p:cNvSpPr/>
          <p:nvPr/>
        </p:nvSpPr>
        <p:spPr>
          <a:xfrm>
            <a:off x="4508500" y="2254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1" name="fe-f-px1"/>
          <p:cNvSpPr/>
          <p:nvPr/>
        </p:nvSpPr>
        <p:spPr>
          <a:xfrm>
            <a:off x="4800600" y="2603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22" name="fe-f-t1"/>
          <p:cNvSpPr txBox="1"/>
          <p:nvPr/>
        </p:nvSpPr>
        <p:spPr>
          <a:xfrm>
            <a:off x="5092700" y="2458720"/>
            <a:ext cx="2849562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Structured output</a:t>
            </a:r>
            <a:endParaRPr lang="en-US" sz="2000" dirty="0"/>
          </a:p>
        </p:txBody>
      </p:sp>
      <p:sp>
        <p:nvSpPr>
          <p:cNvPr id="23" name="fe-f-d1"/>
          <p:cNvSpPr txBox="1"/>
          <p:nvPr/>
        </p:nvSpPr>
        <p:spPr>
          <a:xfrm>
            <a:off x="5092700" y="2933236"/>
            <a:ext cx="2298700" cy="7561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GBNF grammars, json_schema and response_format.</a:t>
            </a:r>
            <a:endParaRPr lang="en-US" sz="1450" dirty="0"/>
          </a:p>
        </p:txBody>
      </p:sp>
      <p:sp>
        <p:nvSpPr>
          <p:cNvPr id="24" name="fe-f-card2"/>
          <p:cNvSpPr/>
          <p:nvPr/>
        </p:nvSpPr>
        <p:spPr>
          <a:xfrm>
            <a:off x="8115300" y="2254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5" name="fe-f-px2"/>
          <p:cNvSpPr/>
          <p:nvPr/>
        </p:nvSpPr>
        <p:spPr>
          <a:xfrm>
            <a:off x="8407400" y="2603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26" name="fe-f-t2"/>
          <p:cNvSpPr txBox="1"/>
          <p:nvPr/>
        </p:nvSpPr>
        <p:spPr>
          <a:xfrm>
            <a:off x="8699500" y="2455164"/>
            <a:ext cx="1517650" cy="275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Tool calls</a:t>
            </a:r>
            <a:endParaRPr lang="en-US" sz="2000" dirty="0"/>
          </a:p>
        </p:txBody>
      </p:sp>
      <p:sp>
        <p:nvSpPr>
          <p:cNvPr id="27" name="fe-f-d2"/>
          <p:cNvSpPr txBox="1"/>
          <p:nvPr/>
        </p:nvSpPr>
        <p:spPr>
          <a:xfrm>
            <a:off x="8699500" y="2933236"/>
            <a:ext cx="2298700" cy="7561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Jinja chat templates, with parsed and streamed tool-call deltas.</a:t>
            </a:r>
            <a:endParaRPr lang="en-US" sz="1450" dirty="0"/>
          </a:p>
        </p:txBody>
      </p:sp>
      <p:sp>
        <p:nvSpPr>
          <p:cNvPr id="28" name="fe-f-card3"/>
          <p:cNvSpPr/>
          <p:nvPr/>
        </p:nvSpPr>
        <p:spPr>
          <a:xfrm>
            <a:off x="901700" y="4413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9" name="fe-f-px3"/>
          <p:cNvSpPr/>
          <p:nvPr/>
        </p:nvSpPr>
        <p:spPr>
          <a:xfrm>
            <a:off x="1193800" y="4762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0" name="fe-f-t3"/>
          <p:cNvSpPr txBox="1"/>
          <p:nvPr/>
        </p:nvSpPr>
        <p:spPr>
          <a:xfrm>
            <a:off x="1485900" y="4617720"/>
            <a:ext cx="204787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Context shift</a:t>
            </a:r>
            <a:endParaRPr lang="en-US" sz="2000" dirty="0"/>
          </a:p>
        </p:txBody>
      </p:sp>
      <p:sp>
        <p:nvSpPr>
          <p:cNvPr id="31" name="fe-f-d3"/>
          <p:cNvSpPr txBox="1"/>
          <p:nvPr/>
        </p:nvSpPr>
        <p:spPr>
          <a:xfrm>
            <a:off x="1485900" y="5092236"/>
            <a:ext cx="2298700" cy="7561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A slot that fills its context drops the oldest tokens and keeps going.</a:t>
            </a:r>
            <a:endParaRPr lang="en-US" sz="1450" dirty="0"/>
          </a:p>
        </p:txBody>
      </p:sp>
      <p:sp>
        <p:nvSpPr>
          <p:cNvPr id="32" name="fe-f-card4"/>
          <p:cNvSpPr/>
          <p:nvPr/>
        </p:nvSpPr>
        <p:spPr>
          <a:xfrm>
            <a:off x="4508500" y="4413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33" name="fe-f-px4"/>
          <p:cNvSpPr/>
          <p:nvPr/>
        </p:nvSpPr>
        <p:spPr>
          <a:xfrm>
            <a:off x="4800600" y="4762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4" name="fe-f-t4"/>
          <p:cNvSpPr txBox="1"/>
          <p:nvPr/>
        </p:nvSpPr>
        <p:spPr>
          <a:xfrm>
            <a:off x="5092700" y="4617720"/>
            <a:ext cx="3675062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Multimodal, no fetching</a:t>
            </a:r>
            <a:endParaRPr lang="en-US" sz="2000" dirty="0"/>
          </a:p>
        </p:txBody>
      </p:sp>
      <p:sp>
        <p:nvSpPr>
          <p:cNvPr id="35" name="fe-f-d4"/>
          <p:cNvSpPr txBox="1"/>
          <p:nvPr/>
        </p:nvSpPr>
        <p:spPr>
          <a:xfrm>
            <a:off x="5092700" y="5092236"/>
            <a:ext cx="2298700" cy="1003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Image and audio as data: URIs only. The engine performs no I/O for a request.</a:t>
            </a:r>
            <a:endParaRPr lang="en-US" sz="1450" dirty="0"/>
          </a:p>
        </p:txBody>
      </p:sp>
      <p:sp>
        <p:nvSpPr>
          <p:cNvPr id="36" name="fe-f-card5"/>
          <p:cNvSpPr/>
          <p:nvPr/>
        </p:nvSpPr>
        <p:spPr>
          <a:xfrm>
            <a:off x="8115300" y="4413250"/>
            <a:ext cx="3175000" cy="1905000"/>
          </a:xfrm>
          <a:prstGeom prst="roundRect">
            <a:avLst>
              <a:gd name="adj" fmla="val 6333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37" name="fe-f-px5"/>
          <p:cNvSpPr/>
          <p:nvPr/>
        </p:nvSpPr>
        <p:spPr>
          <a:xfrm>
            <a:off x="8407400" y="4762500"/>
            <a:ext cx="139700" cy="1397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8" name="fe-f-t5"/>
          <p:cNvSpPr txBox="1"/>
          <p:nvPr/>
        </p:nvSpPr>
        <p:spPr>
          <a:xfrm>
            <a:off x="8699500" y="4617720"/>
            <a:ext cx="314325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Safetensors to GGUF</a:t>
            </a:r>
            <a:endParaRPr lang="en-US" sz="2000" dirty="0"/>
          </a:p>
        </p:txBody>
      </p:sp>
      <p:sp>
        <p:nvSpPr>
          <p:cNvPr id="39" name="fe-f-d5"/>
          <p:cNvSpPr txBox="1"/>
          <p:nvPr/>
        </p:nvSpPr>
        <p:spPr>
          <a:xfrm>
            <a:off x="8699500" y="5092236"/>
            <a:ext cx="2298700" cy="1003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A numpy-only converter turns a Hugging Face Llama directory into GGUF on first load.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points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ep-kicker"/>
          <p:cNvSpPr txBox="1"/>
          <p:nvPr/>
        </p:nvSpPr>
        <p:spPr>
          <a:xfrm>
            <a:off x="889000" y="662330"/>
            <a:ext cx="10541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ENDPOINTS</a:t>
            </a:r>
            <a:endParaRPr lang="en-US" sz="1200" dirty="0"/>
          </a:p>
        </p:txBody>
      </p:sp>
      <p:sp>
        <p:nvSpPr>
          <p:cNvPr id="15" name="ep-title"/>
          <p:cNvSpPr>
            <a:spLocks noGrp="1"/>
          </p:cNvSpPr>
          <p:nvPr>
            <p:ph type="title"/>
          </p:nvPr>
        </p:nvSpPr>
        <p:spPr>
          <a:xfrm>
            <a:off x="889000" y="1278230"/>
            <a:ext cx="9953625" cy="582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Nine routes.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That's the API.</a:t>
            </a:r>
            <a:endParaRPr lang="en-US" sz="4800" dirty="0"/>
          </a:p>
        </p:txBody>
      </p:sp>
      <p:sp>
        <p:nvSpPr>
          <p:cNvPr id="16" name="ep-c0"/>
          <p:cNvSpPr/>
          <p:nvPr/>
        </p:nvSpPr>
        <p:spPr>
          <a:xfrm>
            <a:off x="901700" y="2381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17" name="ep-v0"/>
          <p:cNvSpPr txBox="1"/>
          <p:nvPr/>
        </p:nvSpPr>
        <p:spPr>
          <a:xfrm>
            <a:off x="1092200" y="2548128"/>
            <a:ext cx="50800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9F6E4"/>
                </a:solidFill>
                <a:latin typeface="JetBrains Mono"/>
                <a:ea typeface="JetBrains Mono"/>
                <a:cs typeface="JetBrains Mono"/>
              </a:rPr>
              <a:t>GET</a:t>
            </a:r>
            <a:endParaRPr lang="en-US" sz="1200" dirty="0"/>
          </a:p>
        </p:txBody>
      </p:sp>
      <p:sp>
        <p:nvSpPr>
          <p:cNvPr id="18" name="ep-p0"/>
          <p:cNvSpPr txBox="1"/>
          <p:nvPr/>
        </p:nvSpPr>
        <p:spPr>
          <a:xfrm>
            <a:off x="1651000" y="2522855"/>
            <a:ext cx="108585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/health</a:t>
            </a:r>
            <a:endParaRPr lang="en-US" sz="1500" dirty="0"/>
          </a:p>
        </p:txBody>
      </p:sp>
      <p:sp>
        <p:nvSpPr>
          <p:cNvPr id="19" name="ep-c1"/>
          <p:cNvSpPr/>
          <p:nvPr/>
        </p:nvSpPr>
        <p:spPr>
          <a:xfrm>
            <a:off x="4413250" y="2381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0" name="ep-v1"/>
          <p:cNvSpPr txBox="1"/>
          <p:nvPr/>
        </p:nvSpPr>
        <p:spPr>
          <a:xfrm>
            <a:off x="4603750" y="2548128"/>
            <a:ext cx="50800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9F6E4"/>
                </a:solidFill>
                <a:latin typeface="JetBrains Mono"/>
                <a:ea typeface="JetBrains Mono"/>
                <a:cs typeface="JetBrains Mono"/>
              </a:rPr>
              <a:t>GET</a:t>
            </a:r>
            <a:endParaRPr lang="en-US" sz="1200" dirty="0"/>
          </a:p>
        </p:txBody>
      </p:sp>
      <p:sp>
        <p:nvSpPr>
          <p:cNvPr id="21" name="ep-p1"/>
          <p:cNvSpPr txBox="1"/>
          <p:nvPr/>
        </p:nvSpPr>
        <p:spPr>
          <a:xfrm>
            <a:off x="5162550" y="2522855"/>
            <a:ext cx="971550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/props</a:t>
            </a:r>
            <a:endParaRPr lang="en-US" sz="1500" dirty="0"/>
          </a:p>
        </p:txBody>
      </p:sp>
      <p:sp>
        <p:nvSpPr>
          <p:cNvPr id="22" name="ep-c2"/>
          <p:cNvSpPr/>
          <p:nvPr/>
        </p:nvSpPr>
        <p:spPr>
          <a:xfrm>
            <a:off x="7931150" y="2381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3" name="ep-v2"/>
          <p:cNvSpPr txBox="1"/>
          <p:nvPr/>
        </p:nvSpPr>
        <p:spPr>
          <a:xfrm>
            <a:off x="8121650" y="2548128"/>
            <a:ext cx="50800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9F6E4"/>
                </a:solidFill>
                <a:latin typeface="JetBrains Mono"/>
                <a:ea typeface="JetBrains Mono"/>
                <a:cs typeface="JetBrains Mono"/>
              </a:rPr>
              <a:t>GET</a:t>
            </a:r>
            <a:endParaRPr lang="en-US" sz="1200" dirty="0"/>
          </a:p>
        </p:txBody>
      </p:sp>
      <p:sp>
        <p:nvSpPr>
          <p:cNvPr id="24" name="ep-p2"/>
          <p:cNvSpPr txBox="1"/>
          <p:nvPr/>
        </p:nvSpPr>
        <p:spPr>
          <a:xfrm>
            <a:off x="8680450" y="2522855"/>
            <a:ext cx="142875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/v1/models</a:t>
            </a:r>
            <a:endParaRPr lang="en-US" sz="1500" dirty="0"/>
          </a:p>
        </p:txBody>
      </p:sp>
      <p:sp>
        <p:nvSpPr>
          <p:cNvPr id="25" name="ep-c3"/>
          <p:cNvSpPr/>
          <p:nvPr/>
        </p:nvSpPr>
        <p:spPr>
          <a:xfrm>
            <a:off x="901700" y="32067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6" name="ep-v3"/>
          <p:cNvSpPr txBox="1"/>
          <p:nvPr/>
        </p:nvSpPr>
        <p:spPr>
          <a:xfrm>
            <a:off x="1092200" y="33737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27" name="ep-p3"/>
          <p:cNvSpPr txBox="1"/>
          <p:nvPr/>
        </p:nvSpPr>
        <p:spPr>
          <a:xfrm>
            <a:off x="1651000" y="3348355"/>
            <a:ext cx="131445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/tokenize</a:t>
            </a:r>
            <a:endParaRPr lang="en-US" sz="1500" dirty="0"/>
          </a:p>
        </p:txBody>
      </p:sp>
      <p:sp>
        <p:nvSpPr>
          <p:cNvPr id="28" name="ep-c4"/>
          <p:cNvSpPr/>
          <p:nvPr/>
        </p:nvSpPr>
        <p:spPr>
          <a:xfrm>
            <a:off x="4413250" y="32067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9" name="ep-v4"/>
          <p:cNvSpPr txBox="1"/>
          <p:nvPr/>
        </p:nvSpPr>
        <p:spPr>
          <a:xfrm>
            <a:off x="4603750" y="33737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30" name="ep-p4"/>
          <p:cNvSpPr txBox="1"/>
          <p:nvPr/>
        </p:nvSpPr>
        <p:spPr>
          <a:xfrm>
            <a:off x="5162550" y="3348355"/>
            <a:ext cx="1571625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/detokenize</a:t>
            </a:r>
            <a:endParaRPr lang="en-US" sz="1500" dirty="0"/>
          </a:p>
        </p:txBody>
      </p:sp>
      <p:sp>
        <p:nvSpPr>
          <p:cNvPr id="31" name="ep-c5"/>
          <p:cNvSpPr/>
          <p:nvPr/>
        </p:nvSpPr>
        <p:spPr>
          <a:xfrm>
            <a:off x="7931150" y="32067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32" name="ep-v5"/>
          <p:cNvSpPr txBox="1"/>
          <p:nvPr/>
        </p:nvSpPr>
        <p:spPr>
          <a:xfrm>
            <a:off x="8121650" y="33737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33" name="ep-p5"/>
          <p:cNvSpPr txBox="1"/>
          <p:nvPr/>
        </p:nvSpPr>
        <p:spPr>
          <a:xfrm>
            <a:off x="8680450" y="3348355"/>
            <a:ext cx="2143125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/apply-template</a:t>
            </a:r>
            <a:endParaRPr lang="en-US" sz="1500" dirty="0"/>
          </a:p>
        </p:txBody>
      </p:sp>
      <p:sp>
        <p:nvSpPr>
          <p:cNvPr id="34" name="ep-c6"/>
          <p:cNvSpPr/>
          <p:nvPr/>
        </p:nvSpPr>
        <p:spPr>
          <a:xfrm>
            <a:off x="901700" y="4032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35" name="ep-v6"/>
          <p:cNvSpPr txBox="1"/>
          <p:nvPr/>
        </p:nvSpPr>
        <p:spPr>
          <a:xfrm>
            <a:off x="1092200" y="41992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36" name="ep-p6"/>
          <p:cNvSpPr txBox="1"/>
          <p:nvPr/>
        </p:nvSpPr>
        <p:spPr>
          <a:xfrm>
            <a:off x="1651000" y="4173855"/>
            <a:ext cx="2857500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/v1/chat/completions</a:t>
            </a:r>
            <a:endParaRPr lang="en-US" sz="1500" dirty="0"/>
          </a:p>
        </p:txBody>
      </p:sp>
      <p:sp>
        <p:nvSpPr>
          <p:cNvPr id="37" name="ep-c7"/>
          <p:cNvSpPr/>
          <p:nvPr/>
        </p:nvSpPr>
        <p:spPr>
          <a:xfrm>
            <a:off x="4413250" y="4032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38" name="ep-v7"/>
          <p:cNvSpPr txBox="1"/>
          <p:nvPr/>
        </p:nvSpPr>
        <p:spPr>
          <a:xfrm>
            <a:off x="4603750" y="41992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39" name="ep-p7"/>
          <p:cNvSpPr txBox="1"/>
          <p:nvPr/>
        </p:nvSpPr>
        <p:spPr>
          <a:xfrm>
            <a:off x="5162550" y="4173855"/>
            <a:ext cx="2143125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/v1/completions</a:t>
            </a:r>
            <a:endParaRPr lang="en-US" sz="1500" dirty="0"/>
          </a:p>
        </p:txBody>
      </p:sp>
      <p:sp>
        <p:nvSpPr>
          <p:cNvPr id="40" name="ep-c8"/>
          <p:cNvSpPr/>
          <p:nvPr/>
        </p:nvSpPr>
        <p:spPr>
          <a:xfrm>
            <a:off x="7931150" y="4032250"/>
            <a:ext cx="3359150" cy="647700"/>
          </a:xfrm>
          <a:prstGeom prst="roundRect">
            <a:avLst>
              <a:gd name="adj" fmla="val 16667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41" name="ep-v8"/>
          <p:cNvSpPr txBox="1"/>
          <p:nvPr/>
        </p:nvSpPr>
        <p:spPr>
          <a:xfrm>
            <a:off x="8121650" y="4199280"/>
            <a:ext cx="59690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POST</a:t>
            </a:r>
            <a:endParaRPr lang="en-US" sz="1200" dirty="0"/>
          </a:p>
        </p:txBody>
      </p:sp>
      <p:sp>
        <p:nvSpPr>
          <p:cNvPr id="42" name="ep-p8"/>
          <p:cNvSpPr txBox="1"/>
          <p:nvPr/>
        </p:nvSpPr>
        <p:spPr>
          <a:xfrm>
            <a:off x="8680450" y="4173855"/>
            <a:ext cx="2000250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0"/>
              </a:lnSpc>
              <a:buNone/>
            </a:pPr>
            <a:r>
              <a:rPr lang="en-US" sz="15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/v1/embeddings</a:t>
            </a:r>
            <a:endParaRPr lang="en-US" sz="1500" dirty="0"/>
          </a:p>
        </p:txBody>
      </p:sp>
      <p:sp>
        <p:nvSpPr>
          <p:cNvPr id="43" name="ep-note"/>
          <p:cNvSpPr txBox="1"/>
          <p:nvPr/>
        </p:nvSpPr>
        <p:spPr>
          <a:xfrm>
            <a:off x="889000" y="5031638"/>
            <a:ext cx="10414000" cy="2388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SSE streaming ends in a frame carrying usage and timings. /health is exempt from --api-key, so a supervisor can poll it.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bers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nu-kicker"/>
          <p:cNvSpPr txBox="1"/>
          <p:nvPr/>
        </p:nvSpPr>
        <p:spPr>
          <a:xfrm>
            <a:off x="889000" y="662330"/>
            <a:ext cx="1603375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BY THE NUMBERS</a:t>
            </a:r>
            <a:endParaRPr lang="en-US" sz="1200" dirty="0"/>
          </a:p>
        </p:txBody>
      </p:sp>
      <p:sp>
        <p:nvSpPr>
          <p:cNvPr id="15" name="nu-title"/>
          <p:cNvSpPr txBox="1"/>
          <p:nvPr/>
        </p:nvSpPr>
        <p:spPr>
          <a:xfrm>
            <a:off x="889000" y="1278230"/>
            <a:ext cx="6556375" cy="582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Small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on purpose.</a:t>
            </a:r>
            <a:endParaRPr lang="en-US" sz="4800" dirty="0"/>
          </a:p>
        </p:txBody>
      </p:sp>
      <p:sp>
        <p:nvSpPr>
          <p:cNvPr id="16" name="nu-0-v"/>
          <p:cNvSpPr>
            <a:spLocks noGrp="1"/>
          </p:cNvSpPr>
          <p:nvPr>
            <p:ph type="title"/>
          </p:nvPr>
        </p:nvSpPr>
        <p:spPr>
          <a:xfrm>
            <a:off x="889000" y="2551938"/>
            <a:ext cx="2235200" cy="807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984"/>
              </a:lnSpc>
              <a:buNone/>
            </a:pPr>
            <a:r>
              <a:rPr lang="en-US" sz="90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1</a:t>
            </a:r>
            <a:endParaRPr lang="en-US" sz="9000" dirty="0"/>
          </a:p>
        </p:txBody>
      </p:sp>
      <p:sp>
        <p:nvSpPr>
          <p:cNvPr id="17" name="nu-0-l"/>
          <p:cNvSpPr txBox="1"/>
          <p:nvPr/>
        </p:nvSpPr>
        <p:spPr>
          <a:xfrm>
            <a:off x="914400" y="3865880"/>
            <a:ext cx="2222500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model per process</a:t>
            </a:r>
            <a:endParaRPr lang="en-US" sz="2500" dirty="0"/>
          </a:p>
        </p:txBody>
      </p:sp>
      <p:sp>
        <p:nvSpPr>
          <p:cNvPr id="18" name="nu-1-v"/>
          <p:cNvSpPr txBox="1"/>
          <p:nvPr/>
        </p:nvSpPr>
        <p:spPr>
          <a:xfrm>
            <a:off x="3492500" y="2567940"/>
            <a:ext cx="2425700" cy="829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984"/>
              </a:lnSpc>
              <a:buNone/>
            </a:pPr>
            <a:r>
              <a:rPr lang="en-US" sz="9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9</a:t>
            </a:r>
            <a:endParaRPr lang="en-US" sz="9000" dirty="0"/>
          </a:p>
        </p:txBody>
      </p:sp>
      <p:sp>
        <p:nvSpPr>
          <p:cNvPr id="19" name="nu-1-l"/>
          <p:cNvSpPr txBox="1"/>
          <p:nvPr/>
        </p:nvSpPr>
        <p:spPr>
          <a:xfrm>
            <a:off x="3517900" y="3865880"/>
            <a:ext cx="2222500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HTTP endpoints</a:t>
            </a:r>
            <a:endParaRPr lang="en-US" sz="2500" dirty="0"/>
          </a:p>
        </p:txBody>
      </p:sp>
      <p:sp>
        <p:nvSpPr>
          <p:cNvPr id="20" name="nu-2-v"/>
          <p:cNvSpPr txBox="1"/>
          <p:nvPr/>
        </p:nvSpPr>
        <p:spPr>
          <a:xfrm>
            <a:off x="6096000" y="2551938"/>
            <a:ext cx="2444750" cy="807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984"/>
              </a:lnSpc>
              <a:buNone/>
            </a:pPr>
            <a:r>
              <a:rPr lang="en-US" sz="9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4</a:t>
            </a:r>
            <a:endParaRPr lang="en-US" sz="9000" dirty="0"/>
          </a:p>
        </p:txBody>
      </p:sp>
      <p:sp>
        <p:nvSpPr>
          <p:cNvPr id="21" name="nu-2-l"/>
          <p:cNvSpPr txBox="1"/>
          <p:nvPr/>
        </p:nvSpPr>
        <p:spPr>
          <a:xfrm>
            <a:off x="6121400" y="3865880"/>
            <a:ext cx="2222500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prebuilt platforms</a:t>
            </a:r>
            <a:endParaRPr lang="en-US" sz="2500" dirty="0"/>
          </a:p>
        </p:txBody>
      </p:sp>
      <p:sp>
        <p:nvSpPr>
          <p:cNvPr id="22" name="nu-3-v"/>
          <p:cNvSpPr txBox="1"/>
          <p:nvPr/>
        </p:nvSpPr>
        <p:spPr>
          <a:xfrm>
            <a:off x="8699500" y="2567940"/>
            <a:ext cx="2425700" cy="829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984"/>
              </a:lnSpc>
              <a:buNone/>
            </a:pPr>
            <a:r>
              <a:rPr lang="en-US" sz="90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6</a:t>
            </a:r>
            <a:endParaRPr lang="en-US" sz="9000" dirty="0"/>
          </a:p>
        </p:txBody>
      </p:sp>
      <p:sp>
        <p:nvSpPr>
          <p:cNvPr id="23" name="nu-3-l"/>
          <p:cNvSpPr txBox="1"/>
          <p:nvPr/>
        </p:nvSpPr>
        <p:spPr>
          <a:xfrm>
            <a:off x="8724900" y="3865880"/>
            <a:ext cx="2222500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build targets: CPU to ROCm</a:t>
            </a:r>
            <a:endParaRPr lang="en-US" sz="2500" dirty="0"/>
          </a:p>
        </p:txBody>
      </p:sp>
      <p:sp>
        <p:nvSpPr>
          <p:cNvPr id="24" name="nu-note"/>
          <p:cNvSpPr txBox="1"/>
          <p:nvPr/>
        </p:nvSpPr>
        <p:spPr>
          <a:xfrm>
            <a:off x="889000" y="4840021"/>
            <a:ext cx="10414000" cy="3098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9F6E4"/>
                </a:solidFill>
                <a:latin typeface="Space Grotesk"/>
                <a:ea typeface="Space Grotesk"/>
                <a:cs typeface="Space Grotesk"/>
              </a:rPr>
              <a:t>Remote media URLs are refused with 400, by design.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6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us-kicker"/>
          <p:cNvSpPr txBox="1"/>
          <p:nvPr/>
        </p:nvSpPr>
        <p:spPr>
          <a:xfrm>
            <a:off x="889000" y="662330"/>
            <a:ext cx="78105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USE IT</a:t>
            </a:r>
            <a:endParaRPr lang="en-US" sz="1200" dirty="0"/>
          </a:p>
        </p:txBody>
      </p:sp>
      <p:sp>
        <p:nvSpPr>
          <p:cNvPr id="15" name="us-title"/>
          <p:cNvSpPr>
            <a:spLocks noGrp="1"/>
          </p:cNvSpPr>
          <p:nvPr>
            <p:ph type="title"/>
          </p:nvPr>
        </p:nvSpPr>
        <p:spPr>
          <a:xfrm>
            <a:off x="889000" y="1278230"/>
            <a:ext cx="10501312" cy="582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Point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any OpenAI client</a:t>
            </a: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 at it.</a:t>
            </a:r>
            <a:endParaRPr lang="en-US" sz="4800" dirty="0"/>
          </a:p>
        </p:txBody>
      </p:sp>
      <p:grpSp>
        <p:nvGrpSpPr>
          <p:cNvPr id="22" name="us-call"/>
          <p:cNvGrpSpPr/>
          <p:nvPr/>
        </p:nvGrpSpPr>
        <p:grpSpPr>
          <a:xfrm>
            <a:off x="889000" y="2368550"/>
            <a:ext cx="10414000" cy="2032000"/>
            <a:chOff x="0" y="0"/>
            <a:chExt cx="10414000" cy="2032000"/>
          </a:xfrm>
        </p:grpSpPr>
        <p:sp>
          <p:nvSpPr>
            <p:cNvPr id="16" name="us-call-bg"/>
            <p:cNvSpPr/>
            <p:nvPr/>
          </p:nvSpPr>
          <p:spPr>
            <a:xfrm>
              <a:off x="12700" y="12700"/>
              <a:ext cx="10388600" cy="1771650"/>
            </a:xfrm>
            <a:prstGeom prst="roundRect">
              <a:avLst>
                <a:gd name="adj" fmla="val 6093"/>
              </a:avLst>
            </a:prstGeom>
            <a:solidFill>
              <a:srgbClr val="030405"/>
            </a:solidFill>
            <a:ln w="12700">
              <a:solidFill>
                <a:srgbClr val="22313A"/>
              </a:solidFill>
            </a:ln>
          </p:spPr>
        </p:sp>
        <p:sp>
          <p:nvSpPr>
            <p:cNvPr id="17" name="us-call-dot0"/>
            <p:cNvSpPr/>
            <p:nvPr/>
          </p:nvSpPr>
          <p:spPr>
            <a:xfrm>
              <a:off x="152400" y="228600"/>
              <a:ext cx="76200" cy="762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18" name="us-call-dot1"/>
            <p:cNvSpPr/>
            <p:nvPr/>
          </p:nvSpPr>
          <p:spPr>
            <a:xfrm>
              <a:off x="292100" y="228600"/>
              <a:ext cx="76200" cy="762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19" name="us-call-dot2"/>
            <p:cNvSpPr/>
            <p:nvPr/>
          </p:nvSpPr>
          <p:spPr>
            <a:xfrm>
              <a:off x="431800" y="228600"/>
              <a:ext cx="76200" cy="762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20" name="us-call-title"/>
            <p:cNvSpPr txBox="1"/>
            <p:nvPr/>
          </p:nvSpPr>
          <p:spPr>
            <a:xfrm>
              <a:off x="635000" y="110744"/>
              <a:ext cx="869950" cy="2067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734"/>
                </a:lnSpc>
                <a:buNone/>
              </a:pPr>
              <a:r>
                <a:rPr lang="en-US" sz="1200" dirty="0">
                  <a:solidFill>
                    <a:srgbClr val="9AAEB2"/>
                  </a:solidFill>
                  <a:latin typeface="JetBrains Mono"/>
                  <a:ea typeface="JetBrains Mono"/>
                  <a:cs typeface="JetBrains Mono"/>
                </a:rPr>
                <a:t>request</a:t>
              </a:r>
              <a:endParaRPr lang="en-US" sz="1200" dirty="0"/>
            </a:p>
          </p:txBody>
        </p:sp>
        <p:sp>
          <p:nvSpPr>
            <p:cNvPr id="21" name="us-call-code"/>
            <p:cNvSpPr txBox="1"/>
            <p:nvPr/>
          </p:nvSpPr>
          <p:spPr>
            <a:xfrm>
              <a:off x="177800" y="556514"/>
              <a:ext cx="10058400" cy="10627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2DD4BF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6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curl localhost:8080/v1/chat/completions \</a:t>
              </a:r>
              <a:endParaRPr lang="en-US" sz="1600" dirty="0"/>
            </a:p>
            <a:p>
              <a:pPr algn="l" marL="120650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-H </a:t>
              </a:r>
              <a:r>
                <a:rPr lang="en-US" sz="1600" dirty="0">
                  <a:solidFill>
                    <a:srgbClr val="A7E8BD"/>
                  </a:solidFill>
                  <a:latin typeface="JetBrains Mono"/>
                  <a:ea typeface="JetBrains Mono"/>
                  <a:cs typeface="JetBrains Mono"/>
                </a:rPr>
                <a:t>"Content-Type: application/json"</a:t>
              </a:r>
              <a:r>
                <a:rPr lang="en-US" sz="16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 \</a:t>
              </a:r>
              <a:endParaRPr lang="en-US" sz="1600" dirty="0"/>
            </a:p>
            <a:p>
              <a:pPr algn="l" marL="120650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-d </a:t>
              </a:r>
              <a:r>
                <a:rPr lang="en-US" sz="1600" dirty="0">
                  <a:solidFill>
                    <a:srgbClr val="A7E8BD"/>
                  </a:solidFill>
                  <a:latin typeface="JetBrains Mono"/>
                  <a:ea typeface="JetBrains Mono"/>
                  <a:cs typeface="JetBrains Mono"/>
                </a:rPr>
                <a:t>'{"messages": [{"role": "user",</a:t>
              </a:r>
              <a:endParaRPr lang="en-US" sz="1600" dirty="0"/>
            </a:p>
            <a:p>
              <a:pPr algn="l" marL="488950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A7E8BD"/>
                  </a:solidFill>
                  <a:latin typeface="JetBrains Mono"/>
                  <a:ea typeface="JetBrains Mono"/>
                  <a:cs typeface="JetBrains Mono"/>
                </a:rPr>
                <a:t>"content": "Hello!"}]}'</a:t>
              </a:r>
              <a:endParaRPr lang="en-US" sz="1600" dirty="0"/>
            </a:p>
          </p:txBody>
        </p:sp>
      </p:grpSp>
      <p:sp>
        <p:nvSpPr>
          <p:cNvPr id="23" name="us-h"/>
          <p:cNvSpPr txBox="1"/>
          <p:nvPr/>
        </p:nvSpPr>
        <p:spPr>
          <a:xfrm>
            <a:off x="889000" y="4526915"/>
            <a:ext cx="496093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64"/>
              </a:lnSpc>
              <a:buNone/>
            </a:pPr>
            <a:r>
              <a:rPr lang="en-US" sz="1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Speaks the routes your client already calls:</a:t>
            </a:r>
            <a:endParaRPr lang="en-US" sz="1500" dirty="0"/>
          </a:p>
        </p:txBody>
      </p:sp>
      <p:grpSp>
        <p:nvGrpSpPr>
          <p:cNvPr id="26" name="us-r-0"/>
          <p:cNvGrpSpPr/>
          <p:nvPr/>
        </p:nvGrpSpPr>
        <p:grpSpPr>
          <a:xfrm>
            <a:off x="889000" y="4978400"/>
            <a:ext cx="1301750" cy="311150"/>
            <a:chOff x="0" y="0"/>
            <a:chExt cx="1301750" cy="311150"/>
          </a:xfrm>
        </p:grpSpPr>
        <p:sp>
          <p:nvSpPr>
            <p:cNvPr id="24" name="us-r-0-bg"/>
            <p:cNvSpPr/>
            <p:nvPr/>
          </p:nvSpPr>
          <p:spPr>
            <a:xfrm>
              <a:off x="0" y="0"/>
              <a:ext cx="1301750" cy="3111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25" name="us-r-0-label"/>
            <p:cNvSpPr txBox="1"/>
            <p:nvPr/>
          </p:nvSpPr>
          <p:spPr>
            <a:xfrm>
              <a:off x="114300" y="10668"/>
              <a:ext cx="1341438" cy="2306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48"/>
                </a:lnSpc>
                <a:buNone/>
              </a:pPr>
              <a:r>
                <a:rPr lang="en-US" sz="14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/v1/models</a:t>
              </a:r>
              <a:endParaRPr lang="en-US" sz="1400" dirty="0"/>
            </a:p>
          </p:txBody>
        </p:sp>
      </p:grpSp>
      <p:grpSp>
        <p:nvGrpSpPr>
          <p:cNvPr id="29" name="us-r-1"/>
          <p:cNvGrpSpPr/>
          <p:nvPr/>
        </p:nvGrpSpPr>
        <p:grpSpPr>
          <a:xfrm>
            <a:off x="2292350" y="4978400"/>
            <a:ext cx="2368550" cy="311150"/>
            <a:chOff x="0" y="0"/>
            <a:chExt cx="2368550" cy="311150"/>
          </a:xfrm>
        </p:grpSpPr>
        <p:sp>
          <p:nvSpPr>
            <p:cNvPr id="27" name="us-r-1-bg"/>
            <p:cNvSpPr/>
            <p:nvPr/>
          </p:nvSpPr>
          <p:spPr>
            <a:xfrm>
              <a:off x="0" y="0"/>
              <a:ext cx="2368550" cy="3111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28" name="us-r-1-label"/>
            <p:cNvSpPr txBox="1"/>
            <p:nvPr/>
          </p:nvSpPr>
          <p:spPr>
            <a:xfrm>
              <a:off x="114300" y="4318"/>
              <a:ext cx="2674938" cy="243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48"/>
                </a:lnSpc>
                <a:buNone/>
              </a:pPr>
              <a:r>
                <a:rPr lang="en-US" sz="14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/v1/chat/completions</a:t>
              </a:r>
              <a:endParaRPr lang="en-US" sz="1400" dirty="0"/>
            </a:p>
          </p:txBody>
        </p:sp>
      </p:grpSp>
      <p:grpSp>
        <p:nvGrpSpPr>
          <p:cNvPr id="32" name="us-r-2"/>
          <p:cNvGrpSpPr/>
          <p:nvPr/>
        </p:nvGrpSpPr>
        <p:grpSpPr>
          <a:xfrm>
            <a:off x="4762500" y="4978400"/>
            <a:ext cx="1835150" cy="311150"/>
            <a:chOff x="0" y="0"/>
            <a:chExt cx="1835150" cy="311150"/>
          </a:xfrm>
        </p:grpSpPr>
        <p:sp>
          <p:nvSpPr>
            <p:cNvPr id="30" name="us-r-2-bg"/>
            <p:cNvSpPr/>
            <p:nvPr/>
          </p:nvSpPr>
          <p:spPr>
            <a:xfrm>
              <a:off x="0" y="0"/>
              <a:ext cx="1835150" cy="3111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1" name="us-r-2-label"/>
            <p:cNvSpPr txBox="1"/>
            <p:nvPr/>
          </p:nvSpPr>
          <p:spPr>
            <a:xfrm>
              <a:off x="114300" y="4318"/>
              <a:ext cx="2008188" cy="243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48"/>
                </a:lnSpc>
                <a:buNone/>
              </a:pPr>
              <a:r>
                <a:rPr lang="en-US" sz="14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/v1/completions</a:t>
              </a:r>
              <a:endParaRPr lang="en-US" sz="1400" dirty="0"/>
            </a:p>
          </p:txBody>
        </p:sp>
      </p:grpSp>
      <p:grpSp>
        <p:nvGrpSpPr>
          <p:cNvPr id="35" name="us-r-3"/>
          <p:cNvGrpSpPr/>
          <p:nvPr/>
        </p:nvGrpSpPr>
        <p:grpSpPr>
          <a:xfrm>
            <a:off x="6699250" y="4978400"/>
            <a:ext cx="1727200" cy="311150"/>
            <a:chOff x="0" y="0"/>
            <a:chExt cx="1727200" cy="311150"/>
          </a:xfrm>
        </p:grpSpPr>
        <p:sp>
          <p:nvSpPr>
            <p:cNvPr id="33" name="us-r-3-bg"/>
            <p:cNvSpPr/>
            <p:nvPr/>
          </p:nvSpPr>
          <p:spPr>
            <a:xfrm>
              <a:off x="0" y="0"/>
              <a:ext cx="1727200" cy="3111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4" name="us-r-3-label"/>
            <p:cNvSpPr txBox="1"/>
            <p:nvPr/>
          </p:nvSpPr>
          <p:spPr>
            <a:xfrm>
              <a:off x="114300" y="4318"/>
              <a:ext cx="1873250" cy="243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48"/>
                </a:lnSpc>
                <a:buNone/>
              </a:pPr>
              <a:r>
                <a:rPr lang="en-US" sz="14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/v1/embeddings</a:t>
              </a:r>
              <a:endParaRPr lang="en-US" sz="1400" dirty="0"/>
            </a:p>
          </p:txBody>
        </p:sp>
      </p:grpSp>
      <p:grpSp>
        <p:nvGrpSpPr>
          <p:cNvPr id="38" name="us-r-4"/>
          <p:cNvGrpSpPr/>
          <p:nvPr/>
        </p:nvGrpSpPr>
        <p:grpSpPr>
          <a:xfrm>
            <a:off x="8528050" y="4978400"/>
            <a:ext cx="1619250" cy="311150"/>
            <a:chOff x="0" y="0"/>
            <a:chExt cx="1619250" cy="311150"/>
          </a:xfrm>
        </p:grpSpPr>
        <p:sp>
          <p:nvSpPr>
            <p:cNvPr id="36" name="us-r-4-bg"/>
            <p:cNvSpPr/>
            <p:nvPr/>
          </p:nvSpPr>
          <p:spPr>
            <a:xfrm>
              <a:off x="0" y="0"/>
              <a:ext cx="1619250" cy="3111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7" name="us-r-4-label"/>
            <p:cNvSpPr txBox="1"/>
            <p:nvPr/>
          </p:nvSpPr>
          <p:spPr>
            <a:xfrm>
              <a:off x="114300" y="2134"/>
              <a:ext cx="1738312" cy="2391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048"/>
                </a:lnSpc>
                <a:buNone/>
              </a:pPr>
              <a:r>
                <a:rPr lang="en-US" sz="14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SSE streaming</a:t>
              </a:r>
              <a:endParaRPr lang="en-US" sz="1400" dirty="0"/>
            </a:p>
          </p:txBody>
        </p:sp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rdware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3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lang="en-US" sz="1200" dirty="0"/>
          </a:p>
        </p:txBody>
      </p:sp>
      <p:grpSp>
        <p:nvGrpSpPr>
          <p:cNvPr id="13" name="m-logo"/>
          <p:cNvGrpSpPr/>
          <p:nvPr/>
        </p:nvGrpSpPr>
        <p:grpSpPr>
          <a:xfrm>
            <a:off x="889000" y="6108700"/>
            <a:ext cx="1085850" cy="254000"/>
            <a:chOff x="0" y="0"/>
            <a:chExt cx="1085850" cy="254000"/>
          </a:xfrm>
        </p:grpSpPr>
        <p:grpSp>
          <p:nvGrpSpPr>
            <p:cNvPr id="11" name="m-logo-mark"/>
            <p:cNvGrpSpPr/>
            <p:nvPr/>
          </p:nvGrpSpPr>
          <p:grpSpPr>
            <a:xfrm>
              <a:off x="0" y="0"/>
              <a:ext cx="236855" cy="254000"/>
              <a:chOff x="0" y="0"/>
              <a:chExt cx="236855" cy="254000"/>
            </a:xfrm>
          </p:grpSpPr>
          <p:sp>
            <p:nvSpPr>
              <p:cNvPr id="4" name="m-logo-mark-f0"/>
              <p:cNvSpPr/>
              <p:nvPr/>
            </p:nvSpPr>
            <p:spPr>
              <a:xfrm>
                <a:off x="0" y="0"/>
                <a:ext cx="236855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1390">
                    <a:moveTo>
                      <a:pt x="2000" y="0"/>
                    </a:moveTo>
                    <a:lnTo>
                      <a:pt x="3730" y="1000"/>
                    </a:lnTo>
                    <a:lnTo>
                      <a:pt x="2870" y="1390"/>
                    </a:lnTo>
                    <a:lnTo>
                      <a:pt x="2000" y="940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5" name="m-logo-mark-f1"/>
              <p:cNvSpPr/>
              <p:nvPr/>
            </p:nvSpPr>
            <p:spPr>
              <a:xfrm>
                <a:off x="0" y="0"/>
                <a:ext cx="2368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3000">
                    <a:moveTo>
                      <a:pt x="3730" y="1000"/>
                    </a:moveTo>
                    <a:lnTo>
                      <a:pt x="3730" y="3000"/>
                    </a:lnTo>
                    <a:lnTo>
                      <a:pt x="2870" y="2290"/>
                    </a:lnTo>
                    <a:lnTo>
                      <a:pt x="2870" y="1390"/>
                    </a:lnTo>
                    <a:lnTo>
                      <a:pt x="3730" y="100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6" name="m-logo-mark-f2"/>
              <p:cNvSpPr/>
              <p:nvPr/>
            </p:nvSpPr>
            <p:spPr>
              <a:xfrm>
                <a:off x="0" y="0"/>
                <a:ext cx="236855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3730" h="4000">
                    <a:moveTo>
                      <a:pt x="3730" y="3000"/>
                    </a:moveTo>
                    <a:lnTo>
                      <a:pt x="2000" y="4000"/>
                    </a:lnTo>
                    <a:lnTo>
                      <a:pt x="2000" y="2740"/>
                    </a:lnTo>
                    <a:lnTo>
                      <a:pt x="2870" y="2290"/>
                    </a:lnTo>
                    <a:lnTo>
                      <a:pt x="3730" y="300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7" name="m-logo-mark-f3"/>
              <p:cNvSpPr/>
              <p:nvPr/>
            </p:nvSpPr>
            <p:spPr>
              <a:xfrm>
                <a:off x="0" y="0"/>
                <a:ext cx="127000" cy="254000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4000">
                    <a:moveTo>
                      <a:pt x="2000" y="4000"/>
                    </a:moveTo>
                    <a:lnTo>
                      <a:pt x="270" y="3000"/>
                    </a:lnTo>
                    <a:lnTo>
                      <a:pt x="1130" y="2290"/>
                    </a:lnTo>
                    <a:lnTo>
                      <a:pt x="2000" y="2740"/>
                    </a:lnTo>
                    <a:lnTo>
                      <a:pt x="2000" y="4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8" name="m-logo-mark-f4"/>
              <p:cNvSpPr/>
              <p:nvPr/>
            </p:nvSpPr>
            <p:spPr>
              <a:xfrm>
                <a:off x="0" y="0"/>
                <a:ext cx="71755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1130" h="3000">
                    <a:moveTo>
                      <a:pt x="270" y="3000"/>
                    </a:moveTo>
                    <a:lnTo>
                      <a:pt x="270" y="1000"/>
                    </a:lnTo>
                    <a:lnTo>
                      <a:pt x="1130" y="1390"/>
                    </a:lnTo>
                    <a:lnTo>
                      <a:pt x="1130" y="2290"/>
                    </a:lnTo>
                    <a:lnTo>
                      <a:pt x="270" y="300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9" name="m-logo-mark-f5"/>
              <p:cNvSpPr/>
              <p:nvPr/>
            </p:nvSpPr>
            <p:spPr>
              <a:xfrm>
                <a:off x="0" y="0"/>
                <a:ext cx="127000" cy="88265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390">
                    <a:moveTo>
                      <a:pt x="270" y="1000"/>
                    </a:moveTo>
                    <a:lnTo>
                      <a:pt x="2000" y="0"/>
                    </a:lnTo>
                    <a:lnTo>
                      <a:pt x="2000" y="940"/>
                    </a:lnTo>
                    <a:lnTo>
                      <a:pt x="1130" y="1390"/>
                    </a:lnTo>
                    <a:lnTo>
                      <a:pt x="270" y="100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0" name="m-logo-mark-table"/>
              <p:cNvSpPr/>
              <p:nvPr/>
            </p:nvSpPr>
            <p:spPr>
              <a:xfrm>
                <a:off x="0" y="0"/>
                <a:ext cx="182245" cy="173990"/>
              </a:xfrm>
              <a:custGeom>
                <a:avLst/>
                <a:gdLst/>
                <a:ahLst/>
                <a:cxnLst/>
                <a:rect l="0" t="0" r="r" b="b"/>
                <a:pathLst>
                  <a:path w="2870" h="2740">
                    <a:moveTo>
                      <a:pt x="2000" y="940"/>
                    </a:moveTo>
                    <a:lnTo>
                      <a:pt x="2870" y="1390"/>
                    </a:lnTo>
                    <a:lnTo>
                      <a:pt x="2870" y="2290"/>
                    </a:lnTo>
                    <a:lnTo>
                      <a:pt x="2000" y="2740"/>
                    </a:lnTo>
                    <a:lnTo>
                      <a:pt x="1130" y="2290"/>
                    </a:lnTo>
                    <a:lnTo>
                      <a:pt x="1130" y="1390"/>
                    </a:lnTo>
                    <a:lnTo>
                      <a:pt x="2000" y="94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12" name="m-logo-word"/>
            <p:cNvSpPr txBox="1"/>
            <p:nvPr/>
          </p:nvSpPr>
          <p:spPr>
            <a:xfrm>
              <a:off x="317500" y="42926"/>
              <a:ext cx="960438" cy="1666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00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000" dirty="0"/>
            </a:p>
          </p:txBody>
        </p:sp>
      </p:grpSp>
      <p:sp>
        <p:nvSpPr>
          <p:cNvPr id="14" name="hw-kicker"/>
          <p:cNvSpPr txBox="1"/>
          <p:nvPr/>
        </p:nvSpPr>
        <p:spPr>
          <a:xfrm>
            <a:off x="889000" y="662330"/>
            <a:ext cx="149225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BUILD TARGETS</a:t>
            </a:r>
            <a:endParaRPr lang="en-US" sz="1200" dirty="0"/>
          </a:p>
        </p:txBody>
      </p:sp>
      <p:sp>
        <p:nvSpPr>
          <p:cNvPr id="15" name="hw-title"/>
          <p:cNvSpPr>
            <a:spLocks noGrp="1"/>
          </p:cNvSpPr>
          <p:nvPr>
            <p:ph type="title"/>
          </p:nvPr>
        </p:nvSpPr>
        <p:spPr>
          <a:xfrm>
            <a:off x="889000" y="1278230"/>
            <a:ext cx="13723938" cy="582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CPU by default. </a:t>
            </a:r>
            <a:r>
              <a:rPr lang="en-US" sz="48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GPU when built for it.</a:t>
            </a:r>
            <a:endParaRPr lang="en-US" sz="4800" dirty="0"/>
          </a:p>
        </p:txBody>
      </p:sp>
      <p:sp>
        <p:nvSpPr>
          <p:cNvPr id="16" name="hw-c0"/>
          <p:cNvSpPr/>
          <p:nvPr/>
        </p:nvSpPr>
        <p:spPr>
          <a:xfrm>
            <a:off x="90170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2DD4BF"/>
          </a:solidFill>
          <a:ln w="12700">
            <a:solidFill>
              <a:srgbClr val="22313A"/>
            </a:solidFill>
          </a:ln>
        </p:spPr>
      </p:sp>
      <p:sp>
        <p:nvSpPr>
          <p:cNvPr id="17" name="hw-t0"/>
          <p:cNvSpPr txBox="1"/>
          <p:nvPr/>
        </p:nvSpPr>
        <p:spPr>
          <a:xfrm>
            <a:off x="1079500" y="2788920"/>
            <a:ext cx="86995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0C1114"/>
                </a:solidFill>
                <a:latin typeface="Space Grotesk"/>
                <a:ea typeface="Space Grotesk"/>
                <a:cs typeface="Space Grotesk"/>
              </a:rPr>
              <a:t>CPU</a:t>
            </a:r>
            <a:endParaRPr lang="en-US" sz="2000" dirty="0"/>
          </a:p>
        </p:txBody>
      </p:sp>
      <p:sp>
        <p:nvSpPr>
          <p:cNvPr id="18" name="hw-c1"/>
          <p:cNvSpPr/>
          <p:nvPr/>
        </p:nvSpPr>
        <p:spPr>
          <a:xfrm>
            <a:off x="266065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19" name="hw-t1"/>
          <p:cNvSpPr txBox="1"/>
          <p:nvPr/>
        </p:nvSpPr>
        <p:spPr>
          <a:xfrm>
            <a:off x="2838450" y="2788920"/>
            <a:ext cx="104775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CUDA</a:t>
            </a:r>
            <a:endParaRPr lang="en-US" sz="2000" dirty="0"/>
          </a:p>
        </p:txBody>
      </p:sp>
      <p:sp>
        <p:nvSpPr>
          <p:cNvPr id="20" name="hw-c2"/>
          <p:cNvSpPr/>
          <p:nvPr/>
        </p:nvSpPr>
        <p:spPr>
          <a:xfrm>
            <a:off x="442595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1" name="hw-t2"/>
          <p:cNvSpPr txBox="1"/>
          <p:nvPr/>
        </p:nvSpPr>
        <p:spPr>
          <a:xfrm>
            <a:off x="4603750" y="2785364"/>
            <a:ext cx="1206500" cy="275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Vulkan</a:t>
            </a:r>
            <a:endParaRPr lang="en-US" sz="2000" dirty="0"/>
          </a:p>
        </p:txBody>
      </p:sp>
      <p:sp>
        <p:nvSpPr>
          <p:cNvPr id="22" name="hw-c3"/>
          <p:cNvSpPr/>
          <p:nvPr/>
        </p:nvSpPr>
        <p:spPr>
          <a:xfrm>
            <a:off x="618490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3" name="hw-t3"/>
          <p:cNvSpPr txBox="1"/>
          <p:nvPr/>
        </p:nvSpPr>
        <p:spPr>
          <a:xfrm>
            <a:off x="6362700" y="2785364"/>
            <a:ext cx="1079500" cy="275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Metal</a:t>
            </a:r>
            <a:endParaRPr lang="en-US" sz="2000" dirty="0"/>
          </a:p>
        </p:txBody>
      </p:sp>
      <p:sp>
        <p:nvSpPr>
          <p:cNvPr id="24" name="hw-c4"/>
          <p:cNvSpPr/>
          <p:nvPr/>
        </p:nvSpPr>
        <p:spPr>
          <a:xfrm>
            <a:off x="794385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5" name="hw-t4"/>
          <p:cNvSpPr txBox="1"/>
          <p:nvPr/>
        </p:nvSpPr>
        <p:spPr>
          <a:xfrm>
            <a:off x="8121650" y="2788920"/>
            <a:ext cx="17145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ROCm / HIP</a:t>
            </a:r>
            <a:endParaRPr lang="en-US" sz="2000" dirty="0"/>
          </a:p>
        </p:txBody>
      </p:sp>
      <p:sp>
        <p:nvSpPr>
          <p:cNvPr id="26" name="hw-c5"/>
          <p:cNvSpPr/>
          <p:nvPr/>
        </p:nvSpPr>
        <p:spPr>
          <a:xfrm>
            <a:off x="9709150" y="2444750"/>
            <a:ext cx="1581150" cy="1117600"/>
          </a:xfrm>
          <a:prstGeom prst="roundRect">
            <a:avLst>
              <a:gd name="adj" fmla="val 11932"/>
            </a:avLst>
          </a:prstGeom>
          <a:solidFill>
            <a:srgbClr val="11171B"/>
          </a:solidFill>
          <a:ln w="12700">
            <a:solidFill>
              <a:srgbClr val="22313A"/>
            </a:solidFill>
          </a:ln>
        </p:spPr>
      </p:sp>
      <p:sp>
        <p:nvSpPr>
          <p:cNvPr id="27" name="hw-t5"/>
          <p:cNvSpPr txBox="1"/>
          <p:nvPr/>
        </p:nvSpPr>
        <p:spPr>
          <a:xfrm>
            <a:off x="9886950" y="2788920"/>
            <a:ext cx="100330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02"/>
              </a:lnSpc>
              <a:buNone/>
            </a:pPr>
            <a:r>
              <a:rPr lang="en-US" sz="20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BLAS</a:t>
            </a:r>
            <a:endParaRPr lang="en-US" sz="2000" dirty="0"/>
          </a:p>
        </p:txBody>
      </p:sp>
      <p:sp>
        <p:nvSpPr>
          <p:cNvPr id="28" name="hw-ph"/>
          <p:cNvSpPr txBox="1"/>
          <p:nvPr/>
        </p:nvSpPr>
        <p:spPr>
          <a:xfrm>
            <a:off x="889000" y="3933698"/>
            <a:ext cx="5254625" cy="244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64"/>
              </a:lnSpc>
              <a:buNone/>
            </a:pPr>
            <a:r>
              <a:rPr lang="en-US" sz="15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Prebuilt release archives, with checksums.txt:</a:t>
            </a:r>
            <a:endParaRPr lang="en-US" sz="1500" dirty="0"/>
          </a:p>
        </p:txBody>
      </p:sp>
      <p:grpSp>
        <p:nvGrpSpPr>
          <p:cNvPr id="31" name="hw-p-0"/>
          <p:cNvGrpSpPr/>
          <p:nvPr/>
        </p:nvGrpSpPr>
        <p:grpSpPr>
          <a:xfrm>
            <a:off x="889000" y="4400550"/>
            <a:ext cx="1257300" cy="323850"/>
            <a:chOff x="0" y="0"/>
            <a:chExt cx="1257300" cy="323850"/>
          </a:xfrm>
        </p:grpSpPr>
        <p:sp>
          <p:nvSpPr>
            <p:cNvPr id="29" name="hw-p-0-bg"/>
            <p:cNvSpPr/>
            <p:nvPr/>
          </p:nvSpPr>
          <p:spPr>
            <a:xfrm>
              <a:off x="0" y="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0" name="hw-p-0-label"/>
            <p:cNvSpPr txBox="1"/>
            <p:nvPr/>
          </p:nvSpPr>
          <p:spPr>
            <a:xfrm>
              <a:off x="114300" y="18161"/>
              <a:ext cx="1314450" cy="2231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180"/>
                </a:lnSpc>
                <a:buNone/>
              </a:pP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linux-x64</a:t>
              </a:r>
              <a:endParaRPr lang="en-US" sz="1500" dirty="0"/>
            </a:p>
          </p:txBody>
        </p:sp>
      </p:grpSp>
      <p:grpSp>
        <p:nvGrpSpPr>
          <p:cNvPr id="34" name="hw-p-1"/>
          <p:cNvGrpSpPr/>
          <p:nvPr/>
        </p:nvGrpSpPr>
        <p:grpSpPr>
          <a:xfrm>
            <a:off x="2222500" y="4400550"/>
            <a:ext cx="1600200" cy="323850"/>
            <a:chOff x="0" y="0"/>
            <a:chExt cx="1600200" cy="323850"/>
          </a:xfrm>
        </p:grpSpPr>
        <p:sp>
          <p:nvSpPr>
            <p:cNvPr id="32" name="hw-p-1-bg"/>
            <p:cNvSpPr/>
            <p:nvPr/>
          </p:nvSpPr>
          <p:spPr>
            <a:xfrm>
              <a:off x="0" y="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3" name="hw-p-1-label"/>
            <p:cNvSpPr txBox="1"/>
            <p:nvPr/>
          </p:nvSpPr>
          <p:spPr>
            <a:xfrm>
              <a:off x="114300" y="18161"/>
              <a:ext cx="1714500" cy="2231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180"/>
                </a:lnSpc>
                <a:buNone/>
              </a:pP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darwin-arm64</a:t>
              </a:r>
              <a:endParaRPr lang="en-US" sz="1500" dirty="0"/>
            </a:p>
          </p:txBody>
        </p:sp>
      </p:grpSp>
      <p:grpSp>
        <p:nvGrpSpPr>
          <p:cNvPr id="37" name="hw-p-2"/>
          <p:cNvGrpSpPr/>
          <p:nvPr/>
        </p:nvGrpSpPr>
        <p:grpSpPr>
          <a:xfrm>
            <a:off x="3898900" y="4400550"/>
            <a:ext cx="1371600" cy="323850"/>
            <a:chOff x="0" y="0"/>
            <a:chExt cx="1371600" cy="323850"/>
          </a:xfrm>
        </p:grpSpPr>
        <p:sp>
          <p:nvSpPr>
            <p:cNvPr id="35" name="hw-p-2-bg"/>
            <p:cNvSpPr/>
            <p:nvPr/>
          </p:nvSpPr>
          <p:spPr>
            <a:xfrm>
              <a:off x="0" y="0"/>
              <a:ext cx="1371600" cy="3238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6" name="hw-p-2-label"/>
            <p:cNvSpPr txBox="1"/>
            <p:nvPr/>
          </p:nvSpPr>
          <p:spPr>
            <a:xfrm>
              <a:off x="114300" y="18161"/>
              <a:ext cx="1428750" cy="2231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180"/>
                </a:lnSpc>
                <a:buNone/>
              </a:pP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darwin-x64</a:t>
              </a:r>
              <a:endParaRPr lang="en-US" sz="1500" dirty="0"/>
            </a:p>
          </p:txBody>
        </p:sp>
      </p:grpSp>
      <p:grpSp>
        <p:nvGrpSpPr>
          <p:cNvPr id="40" name="hw-p-3"/>
          <p:cNvGrpSpPr/>
          <p:nvPr/>
        </p:nvGrpSpPr>
        <p:grpSpPr>
          <a:xfrm>
            <a:off x="5346700" y="4400550"/>
            <a:ext cx="1257300" cy="323850"/>
            <a:chOff x="0" y="0"/>
            <a:chExt cx="1257300" cy="323850"/>
          </a:xfrm>
        </p:grpSpPr>
        <p:sp>
          <p:nvSpPr>
            <p:cNvPr id="38" name="hw-p-3-bg"/>
            <p:cNvSpPr/>
            <p:nvPr/>
          </p:nvSpPr>
          <p:spPr>
            <a:xfrm>
              <a:off x="0" y="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rgbClr val="11171B"/>
            </a:solidFill>
            <a:ln>
              <a:noFill/>
            </a:ln>
          </p:spPr>
        </p:sp>
        <p:sp>
          <p:nvSpPr>
            <p:cNvPr id="39" name="hw-p-3-label"/>
            <p:cNvSpPr txBox="1"/>
            <p:nvPr/>
          </p:nvSpPr>
          <p:spPr>
            <a:xfrm>
              <a:off x="114300" y="18161"/>
              <a:ext cx="1314450" cy="2231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180"/>
                </a:lnSpc>
                <a:buNone/>
              </a:pP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win32-x64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rt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-glow"/>
          <p:cNvSpPr/>
          <p:nvPr/>
        </p:nvSpPr>
        <p:spPr>
          <a:xfrm>
            <a:off x="-1905000" y="1270000"/>
            <a:ext cx="11430000" cy="11430000"/>
          </a:xfrm>
          <a:prstGeom prst="rect">
            <a:avLst/>
          </a:prstGeom>
          <a:gradFill rotWithShape="1">
            <a:gsLst>
              <a:gs pos="0">
                <a:srgbClr val="2DD4BF">
                  <a:alpha val="33333"/>
                </a:srgbClr>
              </a:gs>
              <a:gs pos="42426">
                <a:srgbClr val="2DD4BF">
                  <a:alpha val="6275"/>
                </a:srgbClr>
              </a:gs>
              <a:gs pos="70711">
                <a:srgbClr val="2DD4BF">
                  <a:alpha val="0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bd-grid-row" descr="bd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11677650" cy="6496050"/>
          </a:xfrm>
          <a:prstGeom prst="rect">
            <a:avLst/>
          </a:prstGeom>
        </p:spPr>
      </p:pic>
      <p:sp>
        <p:nvSpPr>
          <p:cNvPr id="4" name="st-title"/>
          <p:cNvSpPr>
            <a:spLocks noGrp="1"/>
          </p:cNvSpPr>
          <p:nvPr>
            <p:ph type="title"/>
          </p:nvPr>
        </p:nvSpPr>
        <p:spPr>
          <a:xfrm>
            <a:off x="889000" y="1370711"/>
            <a:ext cx="7754938" cy="13280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Two commands</a:t>
            </a:r>
            <a:endParaRPr lang="en-US" sz="5500" dirty="0"/>
          </a:p>
          <a:p>
            <a:pPr algn="l">
              <a:lnSpc>
                <a:spcPts val="52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to </a:t>
            </a:r>
            <a:r>
              <a:rPr lang="en-US" sz="5500" b="1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</a:rPr>
              <a:t>a served model.</a:t>
            </a:r>
            <a:endParaRPr lang="en-US" sz="5500" dirty="0"/>
          </a:p>
        </p:txBody>
      </p:sp>
      <p:grpSp>
        <p:nvGrpSpPr>
          <p:cNvPr id="11" name="st-code"/>
          <p:cNvGrpSpPr/>
          <p:nvPr/>
        </p:nvGrpSpPr>
        <p:grpSpPr>
          <a:xfrm>
            <a:off x="889000" y="3143250"/>
            <a:ext cx="8255000" cy="1619250"/>
            <a:chOff x="0" y="0"/>
            <a:chExt cx="8255000" cy="1619250"/>
          </a:xfrm>
        </p:grpSpPr>
        <p:sp>
          <p:nvSpPr>
            <p:cNvPr id="5" name="st-code-bg"/>
            <p:cNvSpPr/>
            <p:nvPr/>
          </p:nvSpPr>
          <p:spPr>
            <a:xfrm>
              <a:off x="12700" y="12700"/>
              <a:ext cx="8229600" cy="1422400"/>
            </a:xfrm>
            <a:prstGeom prst="roundRect">
              <a:avLst>
                <a:gd name="adj" fmla="val 7589"/>
              </a:avLst>
            </a:prstGeom>
            <a:solidFill>
              <a:srgbClr val="030405"/>
            </a:solidFill>
            <a:ln w="12700">
              <a:solidFill>
                <a:srgbClr val="22313A"/>
              </a:solidFill>
            </a:ln>
          </p:spPr>
        </p:sp>
        <p:sp>
          <p:nvSpPr>
            <p:cNvPr id="6" name="st-code-dot0"/>
            <p:cNvSpPr/>
            <p:nvPr/>
          </p:nvSpPr>
          <p:spPr>
            <a:xfrm>
              <a:off x="152400" y="209550"/>
              <a:ext cx="76200" cy="762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7" name="st-code-dot1"/>
            <p:cNvSpPr/>
            <p:nvPr/>
          </p:nvSpPr>
          <p:spPr>
            <a:xfrm>
              <a:off x="292100" y="209550"/>
              <a:ext cx="76200" cy="762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8" name="st-code-dot2"/>
            <p:cNvSpPr/>
            <p:nvPr/>
          </p:nvSpPr>
          <p:spPr>
            <a:xfrm>
              <a:off x="431800" y="209550"/>
              <a:ext cx="76200" cy="762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9" name="st-code-title"/>
            <p:cNvSpPr txBox="1"/>
            <p:nvPr/>
          </p:nvSpPr>
          <p:spPr>
            <a:xfrm>
              <a:off x="635000" y="125501"/>
              <a:ext cx="882650" cy="1475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52"/>
                </a:lnSpc>
                <a:buNone/>
              </a:pPr>
              <a:r>
                <a:rPr lang="en-US" sz="1100" dirty="0">
                  <a:solidFill>
                    <a:srgbClr val="9AAEB2"/>
                  </a:solidFill>
                  <a:latin typeface="JetBrains Mono"/>
                  <a:ea typeface="JetBrains Mono"/>
                  <a:cs typeface="JetBrains Mono"/>
                </a:rPr>
                <a:t>terminal</a:t>
              </a:r>
              <a:endParaRPr lang="en-US" sz="1100" dirty="0"/>
            </a:p>
          </p:txBody>
        </p:sp>
        <p:sp>
          <p:nvSpPr>
            <p:cNvPr id="10" name="st-code-code"/>
            <p:cNvSpPr txBox="1"/>
            <p:nvPr/>
          </p:nvSpPr>
          <p:spPr>
            <a:xfrm>
              <a:off x="177800" y="524510"/>
              <a:ext cx="7899400" cy="745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2DD4BF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npm ci &amp;&amp; npm run build</a:t>
              </a: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2DD4BF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E6F2F1"/>
                  </a:solidFill>
                  <a:latin typeface="JetBrains Mono"/>
                  <a:ea typeface="JetBrains Mono"/>
                  <a:cs typeface="JetBrains Mono"/>
                </a:rPr>
                <a:t>./build/onyx-engine -m model.gguf --port 8080</a:t>
              </a: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7D7987"/>
                  </a:solidFill>
                  <a:latin typeface="JetBrains Mono"/>
                  <a:ea typeface="JetBrains Mono"/>
                  <a:cs typeface="JetBrains Mono"/>
                </a:rPr>
                <a:t># add -np 4 for four concurrent slots</a:t>
              </a:r>
              <a:endParaRPr lang="en-US" sz="1500" dirty="0"/>
            </a:p>
          </p:txBody>
        </p:sp>
      </p:grpSp>
      <p:sp>
        <p:nvSpPr>
          <p:cNvPr id="12" name="st-status"/>
          <p:cNvSpPr txBox="1"/>
          <p:nvPr/>
        </p:nvSpPr>
        <p:spPr>
          <a:xfrm>
            <a:off x="889000" y="4832223"/>
            <a:ext cx="7119938" cy="21602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9"/>
              </a:lnSpc>
              <a:buNone/>
            </a:pPr>
            <a:r>
              <a:rPr lang="en-US" sz="1300" dirty="0">
                <a:solidFill>
                  <a:srgbClr val="9AAEB2"/>
                </a:solidFill>
                <a:latin typeface="Space Grotesk"/>
                <a:ea typeface="Space Grotesk"/>
                <a:cs typeface="Space Grotesk"/>
              </a:rPr>
              <a:t>v0.4.0. Prebuilt for linux-x64, darwin-arm64, darwin-x64 and win32-x64.</a:t>
            </a:r>
            <a:endParaRPr lang="en-US" sz="1300" dirty="0"/>
          </a:p>
        </p:txBody>
      </p:sp>
      <p:grpSp>
        <p:nvGrpSpPr>
          <p:cNvPr id="22" name="st-logo"/>
          <p:cNvGrpSpPr/>
          <p:nvPr/>
        </p:nvGrpSpPr>
        <p:grpSpPr>
          <a:xfrm>
            <a:off x="889000" y="5651500"/>
            <a:ext cx="1898650" cy="444500"/>
            <a:chOff x="0" y="0"/>
            <a:chExt cx="1898650" cy="444500"/>
          </a:xfrm>
        </p:grpSpPr>
        <p:grpSp>
          <p:nvGrpSpPr>
            <p:cNvPr id="20" name="st-logo-mark"/>
            <p:cNvGrpSpPr/>
            <p:nvPr/>
          </p:nvGrpSpPr>
          <p:grpSpPr>
            <a:xfrm>
              <a:off x="0" y="0"/>
              <a:ext cx="414655" cy="444500"/>
              <a:chOff x="0" y="0"/>
              <a:chExt cx="414655" cy="444500"/>
            </a:xfrm>
          </p:grpSpPr>
          <p:sp>
            <p:nvSpPr>
              <p:cNvPr id="13" name="st-logo-mark-f0"/>
              <p:cNvSpPr/>
              <p:nvPr/>
            </p:nvSpPr>
            <p:spPr>
              <a:xfrm>
                <a:off x="0" y="0"/>
                <a:ext cx="414655" cy="154305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2430">
                    <a:moveTo>
                      <a:pt x="3500" y="0"/>
                    </a:moveTo>
                    <a:lnTo>
                      <a:pt x="6530" y="1750"/>
                    </a:lnTo>
                    <a:lnTo>
                      <a:pt x="5020" y="2430"/>
                    </a:lnTo>
                    <a:lnTo>
                      <a:pt x="3500" y="1650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4" name="st-logo-mark-f1"/>
              <p:cNvSpPr/>
              <p:nvPr/>
            </p:nvSpPr>
            <p:spPr>
              <a:xfrm>
                <a:off x="0" y="0"/>
                <a:ext cx="414655" cy="333375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5250">
                    <a:moveTo>
                      <a:pt x="6530" y="1750"/>
                    </a:moveTo>
                    <a:lnTo>
                      <a:pt x="6530" y="5250"/>
                    </a:lnTo>
                    <a:lnTo>
                      <a:pt x="5020" y="4010"/>
                    </a:lnTo>
                    <a:lnTo>
                      <a:pt x="5020" y="2430"/>
                    </a:lnTo>
                    <a:lnTo>
                      <a:pt x="6530" y="175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15" name="st-logo-mark-f2"/>
              <p:cNvSpPr/>
              <p:nvPr/>
            </p:nvSpPr>
            <p:spPr>
              <a:xfrm>
                <a:off x="0" y="0"/>
                <a:ext cx="414655" cy="444500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7000">
                    <a:moveTo>
                      <a:pt x="6530" y="5250"/>
                    </a:moveTo>
                    <a:lnTo>
                      <a:pt x="3500" y="7000"/>
                    </a:lnTo>
                    <a:lnTo>
                      <a:pt x="3500" y="4800"/>
                    </a:lnTo>
                    <a:lnTo>
                      <a:pt x="5020" y="4010"/>
                    </a:lnTo>
                    <a:lnTo>
                      <a:pt x="6530" y="525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16" name="st-logo-mark-f3"/>
              <p:cNvSpPr/>
              <p:nvPr/>
            </p:nvSpPr>
            <p:spPr>
              <a:xfrm>
                <a:off x="0" y="0"/>
                <a:ext cx="222250" cy="444500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7000">
                    <a:moveTo>
                      <a:pt x="3500" y="7000"/>
                    </a:moveTo>
                    <a:lnTo>
                      <a:pt x="470" y="5250"/>
                    </a:lnTo>
                    <a:lnTo>
                      <a:pt x="1980" y="4010"/>
                    </a:lnTo>
                    <a:lnTo>
                      <a:pt x="3500" y="4800"/>
                    </a:lnTo>
                    <a:lnTo>
                      <a:pt x="3500" y="7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17" name="st-logo-mark-f4"/>
              <p:cNvSpPr/>
              <p:nvPr/>
            </p:nvSpPr>
            <p:spPr>
              <a:xfrm>
                <a:off x="0" y="0"/>
                <a:ext cx="125730" cy="333375"/>
              </a:xfrm>
              <a:custGeom>
                <a:avLst/>
                <a:gdLst/>
                <a:ahLst/>
                <a:cxnLst/>
                <a:rect l="0" t="0" r="r" b="b"/>
                <a:pathLst>
                  <a:path w="1980" h="5250">
                    <a:moveTo>
                      <a:pt x="470" y="5250"/>
                    </a:moveTo>
                    <a:lnTo>
                      <a:pt x="470" y="1750"/>
                    </a:lnTo>
                    <a:lnTo>
                      <a:pt x="1980" y="2430"/>
                    </a:lnTo>
                    <a:lnTo>
                      <a:pt x="1980" y="4010"/>
                    </a:lnTo>
                    <a:lnTo>
                      <a:pt x="470" y="525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18" name="st-logo-mark-f5"/>
              <p:cNvSpPr/>
              <p:nvPr/>
            </p:nvSpPr>
            <p:spPr>
              <a:xfrm>
                <a:off x="0" y="0"/>
                <a:ext cx="222250" cy="154305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2430">
                    <a:moveTo>
                      <a:pt x="470" y="1750"/>
                    </a:moveTo>
                    <a:lnTo>
                      <a:pt x="3500" y="0"/>
                    </a:lnTo>
                    <a:lnTo>
                      <a:pt x="3500" y="1650"/>
                    </a:lnTo>
                    <a:lnTo>
                      <a:pt x="1980" y="2430"/>
                    </a:lnTo>
                    <a:lnTo>
                      <a:pt x="470" y="175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9" name="st-logo-mark-table"/>
              <p:cNvSpPr/>
              <p:nvPr/>
            </p:nvSpPr>
            <p:spPr>
              <a:xfrm>
                <a:off x="0" y="0"/>
                <a:ext cx="318770" cy="304800"/>
              </a:xfrm>
              <a:custGeom>
                <a:avLst/>
                <a:gdLst/>
                <a:ahLst/>
                <a:cxnLst/>
                <a:rect l="0" t="0" r="r" b="b"/>
                <a:pathLst>
                  <a:path w="5020" h="4800">
                    <a:moveTo>
                      <a:pt x="3500" y="1650"/>
                    </a:moveTo>
                    <a:lnTo>
                      <a:pt x="5020" y="2430"/>
                    </a:lnTo>
                    <a:lnTo>
                      <a:pt x="5020" y="4010"/>
                    </a:lnTo>
                    <a:lnTo>
                      <a:pt x="3500" y="4800"/>
                    </a:lnTo>
                    <a:lnTo>
                      <a:pt x="1980" y="4010"/>
                    </a:lnTo>
                    <a:lnTo>
                      <a:pt x="1980" y="2430"/>
                    </a:lnTo>
                    <a:lnTo>
                      <a:pt x="3500" y="165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21" name="st-logo-word"/>
            <p:cNvSpPr txBox="1"/>
            <p:nvPr/>
          </p:nvSpPr>
          <p:spPr>
            <a:xfrm>
              <a:off x="558800" y="61627"/>
              <a:ext cx="1674812" cy="313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75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750" dirty="0"/>
            </a:p>
          </p:txBody>
        </p:sp>
      </p:grpSp>
      <p:sp>
        <p:nvSpPr>
          <p:cNvPr id="23" name="st-url"/>
          <p:cNvSpPr txBox="1"/>
          <p:nvPr/>
        </p:nvSpPr>
        <p:spPr>
          <a:xfrm>
            <a:off x="6375400" y="5718429"/>
            <a:ext cx="6159500" cy="26962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94"/>
              </a:lnSpc>
              <a:buNone/>
            </a:pPr>
            <a:r>
              <a:rPr lang="en-US" sz="1700" dirty="0">
                <a:solidFill>
                  <a:srgbClr val="E6F2F1"/>
                </a:solidFill>
                <a:latin typeface="JetBrains Mono"/>
                <a:ea typeface="JetBrains Mono"/>
                <a:cs typeface="JetBrains Mono"/>
              </a:rPr>
              <a:t>github.com/JX-Holdings-LLC/Onyx-Engine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8</Slides>
  <Notes>7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Two commands
to a served model.</dc:title>
  <dc:creator>Vixl</dc:creator>
</cp:coreProperties>
</file>