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JX Runtime and Onyx Engine: a runtime and the engine it was built to run.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project does one job. The split is the point.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reach one endpoint; JX Runtime runs one onyx-engine per loaded model.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stock JX Runtime to Onyx Engine in four steps.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jx-runtime dual-engine runs two instances on the same model files.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onyxengine adapter subclasses the llama.cpp adapter.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and status.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-glow"/>
          <p:cNvSpPr/>
          <p:nvPr/>
        </p:nvSpPr>
        <p:spPr>
          <a:xfrm>
            <a:off x="3810000" y="-3810000"/>
            <a:ext cx="12065000" cy="12065000"/>
          </a:xfrm>
          <a:prstGeom prst="rect">
            <a:avLst/>
          </a:prstGeom>
          <a:gradFill rotWithShape="1">
            <a:gsLst>
              <a:gs pos="0">
                <a:srgbClr val="FF2D55">
                  <a:alpha val="27059"/>
                </a:srgbClr>
              </a:gs>
              <a:gs pos="42426">
                <a:srgbClr val="FF2D55">
                  <a:alpha val="6275"/>
                </a:srgbClr>
              </a:gs>
              <a:gs pos="70711">
                <a:srgbClr val="FF2D55">
                  <a:alpha val="0"/>
                </a:srgbClr>
              </a:gs>
              <a:gs pos="100000">
                <a:srgbClr val="FF2D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bd-glow2"/>
          <p:cNvSpPr/>
          <p:nvPr/>
        </p:nvSpPr>
        <p:spPr>
          <a:xfrm>
            <a:off x="6159500" y="1428750"/>
            <a:ext cx="10858500" cy="10858500"/>
          </a:xfrm>
          <a:prstGeom prst="rect">
            <a:avLst/>
          </a:prstGeom>
          <a:gradFill rotWithShape="1">
            <a:gsLst>
              <a:gs pos="0">
                <a:srgbClr val="2DD4BF">
                  <a:alpha val="18824"/>
                </a:srgbClr>
              </a:gs>
              <a:gs pos="42426">
                <a:srgbClr val="2DD4BF">
                  <a:alpha val="6275"/>
                </a:srgbClr>
              </a:gs>
              <a:gs pos="70711">
                <a:srgbClr val="2DD4BF">
                  <a:alpha val="0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5" name="bd-lines-set"/>
          <p:cNvGrpSpPr/>
          <p:nvPr/>
        </p:nvGrpSpPr>
        <p:grpSpPr>
          <a:xfrm>
            <a:off x="0" y="76200"/>
            <a:ext cx="12192000" cy="6673850"/>
            <a:chOff x="0" y="0"/>
            <a:chExt cx="12192000" cy="6673850"/>
          </a:xfrm>
        </p:grpSpPr>
        <p:pic>
          <p:nvPicPr>
            <p:cNvPr id="4" name="bd-lines" descr="bd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73850"/>
            </a:xfrm>
            <a:prstGeom prst="rect">
              <a:avLst/>
            </a:prstGeom>
          </p:spPr>
        </p:pic>
      </p:grpSp>
      <p:grpSp>
        <p:nvGrpSpPr>
          <p:cNvPr id="25" name="t-logo"/>
          <p:cNvGrpSpPr/>
          <p:nvPr/>
        </p:nvGrpSpPr>
        <p:grpSpPr>
          <a:xfrm>
            <a:off x="889000" y="952500"/>
            <a:ext cx="4413250" cy="444500"/>
            <a:chOff x="0" y="0"/>
            <a:chExt cx="4413250" cy="444500"/>
          </a:xfrm>
        </p:grpSpPr>
        <p:grpSp>
          <p:nvGrpSpPr>
            <p:cNvPr id="13" name="t-logo-jx"/>
            <p:cNvGrpSpPr/>
            <p:nvPr/>
          </p:nvGrpSpPr>
          <p:grpSpPr>
            <a:xfrm>
              <a:off x="0" y="0"/>
              <a:ext cx="1930400" cy="444500"/>
              <a:chOff x="0" y="0"/>
              <a:chExt cx="1930400" cy="444500"/>
            </a:xfrm>
          </p:grpSpPr>
          <p:grpSp>
            <p:nvGrpSpPr>
              <p:cNvPr id="11" name="t-logo-jx-mark"/>
              <p:cNvGrpSpPr/>
              <p:nvPr/>
            </p:nvGrpSpPr>
            <p:grpSpPr>
              <a:xfrm>
                <a:off x="0" y="0"/>
                <a:ext cx="444500" cy="444500"/>
                <a:chOff x="0" y="0"/>
                <a:chExt cx="444500" cy="444500"/>
              </a:xfrm>
            </p:grpSpPr>
            <p:sp>
              <p:nvSpPr>
                <p:cNvPr id="6" name="t-logo-jx-mark-tile"/>
                <p:cNvSpPr/>
                <p:nvPr/>
              </p:nvSpPr>
              <p:spPr>
                <a:xfrm>
                  <a:off x="12700" y="12700"/>
                  <a:ext cx="419100" cy="419100"/>
                </a:xfrm>
                <a:prstGeom prst="roundRect">
                  <a:avLst>
                    <a:gd name="adj" fmla="val 2121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7" name="t-logo-jx-mark-rail"/>
                <p:cNvSpPr/>
                <p:nvPr/>
              </p:nvSpPr>
              <p:spPr>
                <a:xfrm>
                  <a:off x="88900" y="349250"/>
                  <a:ext cx="2667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8" name="t-logo-jx-mark-halo"/>
                <p:cNvSpPr/>
                <p:nvPr/>
              </p:nvSpPr>
              <p:spPr>
                <a:xfrm>
                  <a:off x="311150" y="38100"/>
                  <a:ext cx="95250" cy="952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9" name="t-logo-jx-mark-led"/>
                <p:cNvSpPr/>
                <p:nvPr/>
              </p:nvSpPr>
              <p:spPr>
                <a:xfrm>
                  <a:off x="336550" y="63500"/>
                  <a:ext cx="44450" cy="4445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10" name="t-logo-jx-mark-jx"/>
                <p:cNvSpPr txBox="1"/>
                <p:nvPr/>
              </p:nvSpPr>
              <p:spPr>
                <a:xfrm>
                  <a:off x="69850" y="32448"/>
                  <a:ext cx="581025" cy="2469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2236"/>
                    </a:lnSpc>
                    <a:buNone/>
                  </a:pPr>
                  <a:r>
                    <a:rPr lang="en-US" sz="155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1550" dirty="0"/>
                </a:p>
              </p:txBody>
            </p:sp>
          </p:grpSp>
          <p:sp>
            <p:nvSpPr>
              <p:cNvPr id="12" name="t-logo-jx-word"/>
              <p:cNvSpPr txBox="1"/>
              <p:nvPr/>
            </p:nvSpPr>
            <p:spPr>
              <a:xfrm>
                <a:off x="558800" y="40735"/>
                <a:ext cx="1714500" cy="33391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23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5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75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750" dirty="0"/>
              </a:p>
            </p:txBody>
          </p:sp>
        </p:grpSp>
        <p:sp>
          <p:nvSpPr>
            <p:cNvPr id="14" name="t-logo-plus"/>
            <p:cNvSpPr txBox="1"/>
            <p:nvPr/>
          </p:nvSpPr>
          <p:spPr>
            <a:xfrm>
              <a:off x="2133600" y="-17659"/>
              <a:ext cx="587375" cy="3097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889"/>
                </a:lnSpc>
                <a:buNone/>
              </a:pPr>
              <a:r>
                <a:rPr lang="en-US" sz="21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2150" dirty="0"/>
            </a:p>
          </p:txBody>
        </p:sp>
        <p:grpSp>
          <p:nvGrpSpPr>
            <p:cNvPr id="24" name="t-logo-onyx"/>
            <p:cNvGrpSpPr/>
            <p:nvPr/>
          </p:nvGrpSpPr>
          <p:grpSpPr>
            <a:xfrm>
              <a:off x="2514600" y="0"/>
              <a:ext cx="1898650" cy="444500"/>
              <a:chOff x="0" y="0"/>
              <a:chExt cx="1898650" cy="444500"/>
            </a:xfrm>
          </p:grpSpPr>
          <p:grpSp>
            <p:nvGrpSpPr>
              <p:cNvPr id="22" name="t-logo-onyx-mark"/>
              <p:cNvGrpSpPr/>
              <p:nvPr/>
            </p:nvGrpSpPr>
            <p:grpSpPr>
              <a:xfrm>
                <a:off x="0" y="0"/>
                <a:ext cx="414655" cy="444500"/>
                <a:chOff x="0" y="0"/>
                <a:chExt cx="414655" cy="444500"/>
              </a:xfrm>
            </p:grpSpPr>
            <p:sp>
              <p:nvSpPr>
                <p:cNvPr id="15" name="t-logo-onyx-mark-f0"/>
                <p:cNvSpPr/>
                <p:nvPr/>
              </p:nvSpPr>
              <p:spPr>
                <a:xfrm>
                  <a:off x="0" y="0"/>
                  <a:ext cx="414655" cy="15430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30" h="2430">
                      <a:moveTo>
                        <a:pt x="3500" y="0"/>
                      </a:moveTo>
                      <a:lnTo>
                        <a:pt x="6530" y="1750"/>
                      </a:lnTo>
                      <a:lnTo>
                        <a:pt x="5020" y="2430"/>
                      </a:lnTo>
                      <a:lnTo>
                        <a:pt x="3500" y="1650"/>
                      </a:lnTo>
                      <a:lnTo>
                        <a:pt x="35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6" name="t-logo-onyx-mark-f1"/>
                <p:cNvSpPr/>
                <p:nvPr/>
              </p:nvSpPr>
              <p:spPr>
                <a:xfrm>
                  <a:off x="0" y="0"/>
                  <a:ext cx="414655" cy="333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30" h="5250">
                      <a:moveTo>
                        <a:pt x="6530" y="1750"/>
                      </a:moveTo>
                      <a:lnTo>
                        <a:pt x="6530" y="5250"/>
                      </a:lnTo>
                      <a:lnTo>
                        <a:pt x="5020" y="4010"/>
                      </a:lnTo>
                      <a:lnTo>
                        <a:pt x="5020" y="2430"/>
                      </a:lnTo>
                      <a:lnTo>
                        <a:pt x="6530" y="175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t-logo-onyx-mark-f2"/>
                <p:cNvSpPr/>
                <p:nvPr/>
              </p:nvSpPr>
              <p:spPr>
                <a:xfrm>
                  <a:off x="0" y="0"/>
                  <a:ext cx="414655" cy="444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30" h="7000">
                      <a:moveTo>
                        <a:pt x="6530" y="5250"/>
                      </a:moveTo>
                      <a:lnTo>
                        <a:pt x="3500" y="7000"/>
                      </a:lnTo>
                      <a:lnTo>
                        <a:pt x="3500" y="4800"/>
                      </a:lnTo>
                      <a:lnTo>
                        <a:pt x="5020" y="4010"/>
                      </a:lnTo>
                      <a:lnTo>
                        <a:pt x="6530" y="525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t-logo-onyx-mark-f3"/>
                <p:cNvSpPr/>
                <p:nvPr/>
              </p:nvSpPr>
              <p:spPr>
                <a:xfrm>
                  <a:off x="0" y="0"/>
                  <a:ext cx="222250" cy="444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" h="7000">
                      <a:moveTo>
                        <a:pt x="3500" y="7000"/>
                      </a:moveTo>
                      <a:lnTo>
                        <a:pt x="470" y="5250"/>
                      </a:lnTo>
                      <a:lnTo>
                        <a:pt x="1980" y="4010"/>
                      </a:lnTo>
                      <a:lnTo>
                        <a:pt x="3500" y="4800"/>
                      </a:lnTo>
                      <a:lnTo>
                        <a:pt x="3500" y="7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t-logo-onyx-mark-f4"/>
                <p:cNvSpPr/>
                <p:nvPr/>
              </p:nvSpPr>
              <p:spPr>
                <a:xfrm>
                  <a:off x="0" y="0"/>
                  <a:ext cx="125730" cy="333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80" h="5250">
                      <a:moveTo>
                        <a:pt x="470" y="5250"/>
                      </a:moveTo>
                      <a:lnTo>
                        <a:pt x="470" y="1750"/>
                      </a:lnTo>
                      <a:lnTo>
                        <a:pt x="1980" y="2430"/>
                      </a:lnTo>
                      <a:lnTo>
                        <a:pt x="1980" y="4010"/>
                      </a:lnTo>
                      <a:lnTo>
                        <a:pt x="470" y="525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20" name="t-logo-onyx-mark-f5"/>
                <p:cNvSpPr/>
                <p:nvPr/>
              </p:nvSpPr>
              <p:spPr>
                <a:xfrm>
                  <a:off x="0" y="0"/>
                  <a:ext cx="222250" cy="15430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" h="2430">
                      <a:moveTo>
                        <a:pt x="470" y="1750"/>
                      </a:moveTo>
                      <a:lnTo>
                        <a:pt x="3500" y="0"/>
                      </a:lnTo>
                      <a:lnTo>
                        <a:pt x="3500" y="1650"/>
                      </a:lnTo>
                      <a:lnTo>
                        <a:pt x="1980" y="2430"/>
                      </a:lnTo>
                      <a:lnTo>
                        <a:pt x="470" y="175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1" name="t-logo-onyx-mark-table"/>
                <p:cNvSpPr/>
                <p:nvPr/>
              </p:nvSpPr>
              <p:spPr>
                <a:xfrm>
                  <a:off x="0" y="0"/>
                  <a:ext cx="318770" cy="3048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20" h="4800">
                      <a:moveTo>
                        <a:pt x="3500" y="1650"/>
                      </a:moveTo>
                      <a:lnTo>
                        <a:pt x="5020" y="2430"/>
                      </a:lnTo>
                      <a:lnTo>
                        <a:pt x="5020" y="4010"/>
                      </a:lnTo>
                      <a:lnTo>
                        <a:pt x="3500" y="4800"/>
                      </a:lnTo>
                      <a:lnTo>
                        <a:pt x="1980" y="4010"/>
                      </a:lnTo>
                      <a:lnTo>
                        <a:pt x="1980" y="2430"/>
                      </a:lnTo>
                      <a:lnTo>
                        <a:pt x="3500" y="165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3" name="t-logo-onyx-word"/>
              <p:cNvSpPr txBox="1"/>
              <p:nvPr/>
            </p:nvSpPr>
            <p:spPr>
              <a:xfrm>
                <a:off x="558800" y="61627"/>
                <a:ext cx="1674812" cy="31302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236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5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75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750" dirty="0"/>
              </a:p>
            </p:txBody>
          </p:sp>
        </p:grpSp>
      </p:grpSp>
      <p:sp>
        <p:nvSpPr>
          <p:cNvPr id="26" name="t-title"/>
          <p:cNvSpPr txBox="1"/>
          <p:nvPr/>
        </p:nvSpPr>
        <p:spPr>
          <a:xfrm>
            <a:off x="889000" y="2166823"/>
            <a:ext cx="4699000" cy="258932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Onyx runs</a:t>
            </a:r>
            <a:endParaRPr lang="en-US" sz="5200" dirty="0"/>
          </a:p>
          <a:p>
            <a:pPr algn="l">
              <a:lnSpc>
                <a:spcPts val="5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the model.</a:t>
            </a:r>
            <a:endParaRPr lang="en-US" sz="5200" dirty="0"/>
          </a:p>
          <a:p>
            <a:pPr algn="l">
              <a:lnSpc>
                <a:spcPts val="5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JX guards</a:t>
            </a:r>
            <a:endParaRPr lang="en-US" sz="5200" dirty="0"/>
          </a:p>
          <a:p>
            <a:pPr algn="l">
              <a:lnSpc>
                <a:spcPts val="5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the door.</a:t>
            </a:r>
            <a:endParaRPr lang="en-US" sz="5200" dirty="0"/>
          </a:p>
        </p:txBody>
      </p:sp>
      <p:sp>
        <p:nvSpPr>
          <p:cNvPr id="27" name="t-link"/>
          <p:cNvSpPr/>
          <p:nvPr/>
        </p:nvSpPr>
        <p:spPr>
          <a:xfrm>
            <a:off x="889000" y="5137150"/>
            <a:ext cx="2286000" cy="50800"/>
          </a:xfrm>
          <a:prstGeom prst="rect">
            <a:avLst/>
          </a:prstGeom>
          <a:gradFill rotWithShape="1">
            <a:gsLst>
              <a:gs pos="0">
                <a:srgbClr val="FF2D55"/>
              </a:gs>
              <a:gs pos="100000">
                <a:srgbClr val="2DD4BF"/>
              </a:gs>
            </a:gsLst>
            <a:lin ang="0" scaled="0"/>
          </a:gradFill>
          <a:ln>
            <a:noFill/>
          </a:ln>
        </p:spPr>
      </p:sp>
      <p:grpSp>
        <p:nvGrpSpPr>
          <p:cNvPr id="33" name="t-tile"/>
          <p:cNvGrpSpPr/>
          <p:nvPr/>
        </p:nvGrpSpPr>
        <p:grpSpPr>
          <a:xfrm>
            <a:off x="8128000" y="1905000"/>
            <a:ext cx="1651000" cy="1651000"/>
            <a:chOff x="0" y="0"/>
            <a:chExt cx="1651000" cy="1651000"/>
          </a:xfrm>
        </p:grpSpPr>
        <p:sp>
          <p:nvSpPr>
            <p:cNvPr id="28" name="t-tile-tile"/>
            <p:cNvSpPr/>
            <p:nvPr/>
          </p:nvSpPr>
          <p:spPr>
            <a:xfrm>
              <a:off x="31750" y="31750"/>
              <a:ext cx="1587500" cy="1587500"/>
            </a:xfrm>
            <a:prstGeom prst="roundRect">
              <a:avLst>
                <a:gd name="adj" fmla="val 21800"/>
              </a:avLst>
            </a:prstGeom>
            <a:solidFill>
              <a:srgbClr val="17171B"/>
            </a:solidFill>
            <a:ln w="31750">
              <a:solidFill>
                <a:srgbClr val="3A3842"/>
              </a:solidFill>
            </a:ln>
          </p:spPr>
        </p:sp>
        <p:sp>
          <p:nvSpPr>
            <p:cNvPr id="29" name="t-tile-rail"/>
            <p:cNvSpPr/>
            <p:nvPr/>
          </p:nvSpPr>
          <p:spPr>
            <a:xfrm>
              <a:off x="330200" y="1289050"/>
              <a:ext cx="990600" cy="57150"/>
            </a:xfrm>
            <a:prstGeom prst="roundRect">
              <a:avLst>
                <a:gd name="adj" fmla="val 50000"/>
              </a:avLst>
            </a:prstGeom>
            <a:solidFill>
              <a:srgbClr val="FF2D55"/>
            </a:solidFill>
            <a:ln>
              <a:noFill/>
            </a:ln>
          </p:spPr>
        </p:sp>
        <p:sp>
          <p:nvSpPr>
            <p:cNvPr id="30" name="t-tile-halo"/>
            <p:cNvSpPr/>
            <p:nvPr/>
          </p:nvSpPr>
          <p:spPr>
            <a:xfrm>
              <a:off x="1155700" y="146050"/>
              <a:ext cx="361950" cy="361950"/>
            </a:xfrm>
            <a:prstGeom prst="ellipse">
              <a:avLst/>
            </a:prstGeom>
            <a:solidFill>
              <a:srgbClr val="FF2D55">
                <a:alpha val="21961"/>
              </a:srgbClr>
            </a:solidFill>
            <a:ln>
              <a:noFill/>
            </a:ln>
          </p:spPr>
        </p:sp>
        <p:sp>
          <p:nvSpPr>
            <p:cNvPr id="31" name="t-tile-led"/>
            <p:cNvSpPr/>
            <p:nvPr/>
          </p:nvSpPr>
          <p:spPr>
            <a:xfrm>
              <a:off x="1257300" y="247650"/>
              <a:ext cx="165100" cy="165100"/>
            </a:xfrm>
            <a:prstGeom prst="ellipse">
              <a:avLst/>
            </a:prstGeom>
            <a:solidFill>
              <a:srgbClr val="FF2D55"/>
            </a:solidFill>
            <a:ln>
              <a:noFill/>
            </a:ln>
          </p:spPr>
        </p:sp>
        <p:sp>
          <p:nvSpPr>
            <p:cNvPr id="32" name="t-tile-jx"/>
            <p:cNvSpPr>
              <a:spLocks noGrp="1"/>
            </p:cNvSpPr>
            <p:nvPr>
              <p:ph type="title"/>
            </p:nvPr>
          </p:nvSpPr>
          <p:spPr>
            <a:xfrm>
              <a:off x="266700" y="446659"/>
              <a:ext cx="2133600" cy="58204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5702"/>
                </a:lnSpc>
                <a:buNone/>
              </a:pPr>
              <a:r>
                <a:rPr lang="en-US" sz="5700" b="1" dirty="0">
                  <a:solidFill>
                    <a:srgbClr val="F1EEE9"/>
                  </a:solidFill>
                  <a:latin typeface="Archivo"/>
                  <a:ea typeface="Archivo"/>
                  <a:cs typeface="Archivo"/>
                </a:rPr>
                <a:t>JX</a:t>
              </a:r>
              <a:endParaRPr lang="en-US" sz="5700" dirty="0"/>
            </a:p>
          </p:txBody>
        </p:sp>
      </p:grpSp>
      <p:grpSp>
        <p:nvGrpSpPr>
          <p:cNvPr id="41" name="t-gem"/>
          <p:cNvGrpSpPr/>
          <p:nvPr/>
        </p:nvGrpSpPr>
        <p:grpSpPr>
          <a:xfrm>
            <a:off x="9525000" y="2984500"/>
            <a:ext cx="1777365" cy="1905000"/>
            <a:chOff x="0" y="0"/>
            <a:chExt cx="1777365" cy="1905000"/>
          </a:xfrm>
        </p:grpSpPr>
        <p:sp>
          <p:nvSpPr>
            <p:cNvPr id="34" name="t-gem-f0"/>
            <p:cNvSpPr/>
            <p:nvPr/>
          </p:nvSpPr>
          <p:spPr>
            <a:xfrm>
              <a:off x="0" y="0"/>
              <a:ext cx="1777365" cy="661670"/>
            </a:xfrm>
            <a:custGeom>
              <a:avLst/>
              <a:gdLst/>
              <a:ahLst/>
              <a:cxnLst/>
              <a:rect l="0" t="0" r="r" b="b"/>
              <a:pathLst>
                <a:path w="27990" h="10420">
                  <a:moveTo>
                    <a:pt x="15000" y="0"/>
                  </a:moveTo>
                  <a:lnTo>
                    <a:pt x="27990" y="7500"/>
                  </a:lnTo>
                  <a:lnTo>
                    <a:pt x="21500" y="10420"/>
                  </a:lnTo>
                  <a:lnTo>
                    <a:pt x="15000" y="7050"/>
                  </a:lnTo>
                  <a:lnTo>
                    <a:pt x="15000" y="0"/>
                  </a:lnTo>
                  <a:close/>
                </a:path>
              </a:pathLst>
            </a:custGeom>
            <a:solidFill>
              <a:srgbClr val="1D4A47"/>
            </a:solidFill>
            <a:ln w="25400">
              <a:solidFill>
                <a:srgbClr val="2DD4BF"/>
              </a:solidFill>
            </a:ln>
          </p:spPr>
        </p:sp>
        <p:sp>
          <p:nvSpPr>
            <p:cNvPr id="35" name="t-gem-f1"/>
            <p:cNvSpPr/>
            <p:nvPr/>
          </p:nvSpPr>
          <p:spPr>
            <a:xfrm>
              <a:off x="0" y="0"/>
              <a:ext cx="1777365" cy="1428750"/>
            </a:xfrm>
            <a:custGeom>
              <a:avLst/>
              <a:gdLst/>
              <a:ahLst/>
              <a:cxnLst/>
              <a:rect l="0" t="0" r="r" b="b"/>
              <a:pathLst>
                <a:path w="27990" h="22500">
                  <a:moveTo>
                    <a:pt x="27990" y="7500"/>
                  </a:moveTo>
                  <a:lnTo>
                    <a:pt x="27990" y="22500"/>
                  </a:lnTo>
                  <a:lnTo>
                    <a:pt x="21500" y="17180"/>
                  </a:lnTo>
                  <a:lnTo>
                    <a:pt x="21500" y="10420"/>
                  </a:lnTo>
                  <a:lnTo>
                    <a:pt x="27990" y="7500"/>
                  </a:lnTo>
                  <a:close/>
                </a:path>
              </a:pathLst>
            </a:custGeom>
            <a:solidFill>
              <a:srgbClr val="16262B"/>
            </a:solidFill>
            <a:ln w="2540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36" name="t-gem-f2"/>
            <p:cNvSpPr/>
            <p:nvPr/>
          </p:nvSpPr>
          <p:spPr>
            <a:xfrm>
              <a:off x="0" y="0"/>
              <a:ext cx="1777365" cy="1905000"/>
            </a:xfrm>
            <a:custGeom>
              <a:avLst/>
              <a:gdLst/>
              <a:ahLst/>
              <a:cxnLst/>
              <a:rect l="0" t="0" r="r" b="b"/>
              <a:pathLst>
                <a:path w="27990" h="30000">
                  <a:moveTo>
                    <a:pt x="27990" y="22500"/>
                  </a:moveTo>
                  <a:lnTo>
                    <a:pt x="15000" y="30000"/>
                  </a:lnTo>
                  <a:lnTo>
                    <a:pt x="15000" y="20550"/>
                  </a:lnTo>
                  <a:lnTo>
                    <a:pt x="21500" y="17180"/>
                  </a:lnTo>
                  <a:lnTo>
                    <a:pt x="27990" y="22500"/>
                  </a:lnTo>
                  <a:close/>
                </a:path>
              </a:pathLst>
            </a:custGeom>
            <a:solidFill>
              <a:srgbClr val="0E1518"/>
            </a:solidFill>
            <a:ln w="2540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37" name="t-gem-f3"/>
            <p:cNvSpPr/>
            <p:nvPr/>
          </p:nvSpPr>
          <p:spPr>
            <a:xfrm>
              <a:off x="0" y="0"/>
              <a:ext cx="952500" cy="1905000"/>
            </a:xfrm>
            <a:custGeom>
              <a:avLst/>
              <a:gdLst/>
              <a:ahLst/>
              <a:cxnLst/>
              <a:rect l="0" t="0" r="r" b="b"/>
              <a:pathLst>
                <a:path w="15000" h="30000">
                  <a:moveTo>
                    <a:pt x="15000" y="30000"/>
                  </a:moveTo>
                  <a:lnTo>
                    <a:pt x="2010" y="22500"/>
                  </a:lnTo>
                  <a:lnTo>
                    <a:pt x="8500" y="17180"/>
                  </a:lnTo>
                  <a:lnTo>
                    <a:pt x="15000" y="20550"/>
                  </a:lnTo>
                  <a:lnTo>
                    <a:pt x="15000" y="30000"/>
                  </a:lnTo>
                  <a:close/>
                </a:path>
              </a:pathLst>
            </a:custGeom>
            <a:solidFill>
              <a:srgbClr val="070B0D"/>
            </a:solidFill>
            <a:ln w="2540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38" name="t-gem-f4"/>
            <p:cNvSpPr/>
            <p:nvPr/>
          </p:nvSpPr>
          <p:spPr>
            <a:xfrm>
              <a:off x="0" y="0"/>
              <a:ext cx="539750" cy="1428750"/>
            </a:xfrm>
            <a:custGeom>
              <a:avLst/>
              <a:gdLst/>
              <a:ahLst/>
              <a:cxnLst/>
              <a:rect l="0" t="0" r="r" b="b"/>
              <a:pathLst>
                <a:path w="8500" h="22500">
                  <a:moveTo>
                    <a:pt x="2010" y="22500"/>
                  </a:moveTo>
                  <a:lnTo>
                    <a:pt x="2010" y="7500"/>
                  </a:lnTo>
                  <a:lnTo>
                    <a:pt x="8500" y="10420"/>
                  </a:lnTo>
                  <a:lnTo>
                    <a:pt x="8500" y="17180"/>
                  </a:lnTo>
                  <a:lnTo>
                    <a:pt x="2010" y="22500"/>
                  </a:lnTo>
                  <a:close/>
                </a:path>
              </a:pathLst>
            </a:custGeom>
            <a:solidFill>
              <a:srgbClr val="0B1114"/>
            </a:solidFill>
            <a:ln w="2540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39" name="t-gem-f5"/>
            <p:cNvSpPr/>
            <p:nvPr/>
          </p:nvSpPr>
          <p:spPr>
            <a:xfrm>
              <a:off x="0" y="0"/>
              <a:ext cx="952500" cy="661670"/>
            </a:xfrm>
            <a:custGeom>
              <a:avLst/>
              <a:gdLst/>
              <a:ahLst/>
              <a:cxnLst/>
              <a:rect l="0" t="0" r="r" b="b"/>
              <a:pathLst>
                <a:path w="15000" h="10420">
                  <a:moveTo>
                    <a:pt x="2010" y="7500"/>
                  </a:moveTo>
                  <a:lnTo>
                    <a:pt x="15000" y="0"/>
                  </a:lnTo>
                  <a:lnTo>
                    <a:pt x="15000" y="7050"/>
                  </a:lnTo>
                  <a:lnTo>
                    <a:pt x="8500" y="10420"/>
                  </a:lnTo>
                  <a:lnTo>
                    <a:pt x="2010" y="7500"/>
                  </a:lnTo>
                  <a:close/>
                </a:path>
              </a:pathLst>
            </a:custGeom>
            <a:solidFill>
              <a:srgbClr val="1A2E33"/>
            </a:solidFill>
            <a:ln w="25400">
              <a:solidFill>
                <a:srgbClr val="2DD4BF"/>
              </a:solidFill>
            </a:ln>
          </p:spPr>
        </p:sp>
        <p:sp>
          <p:nvSpPr>
            <p:cNvPr id="40" name="t-gem-table"/>
            <p:cNvSpPr/>
            <p:nvPr/>
          </p:nvSpPr>
          <p:spPr>
            <a:xfrm>
              <a:off x="0" y="0"/>
              <a:ext cx="1365250" cy="1304925"/>
            </a:xfrm>
            <a:custGeom>
              <a:avLst/>
              <a:gdLst/>
              <a:ahLst/>
              <a:cxnLst/>
              <a:rect l="0" t="0" r="r" b="b"/>
              <a:pathLst>
                <a:path w="21500" h="20550">
                  <a:moveTo>
                    <a:pt x="15000" y="7050"/>
                  </a:moveTo>
                  <a:lnTo>
                    <a:pt x="21500" y="10420"/>
                  </a:lnTo>
                  <a:lnTo>
                    <a:pt x="21500" y="17180"/>
                  </a:lnTo>
                  <a:lnTo>
                    <a:pt x="15000" y="20550"/>
                  </a:lnTo>
                  <a:lnTo>
                    <a:pt x="8500" y="17180"/>
                  </a:lnTo>
                  <a:lnTo>
                    <a:pt x="8500" y="10420"/>
                  </a:lnTo>
                  <a:lnTo>
                    <a:pt x="15000" y="7050"/>
                  </a:lnTo>
                  <a:close/>
                </a:path>
              </a:pathLst>
            </a:custGeom>
            <a:solidFill>
              <a:srgbClr val="0A1013"/>
            </a:solidFill>
            <a:ln w="31750">
              <a:solidFill>
                <a:srgbClr val="99F6E4"/>
              </a:solidFill>
            </a:ln>
          </p:spPr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m-lines-set"/>
          <p:cNvGrpSpPr/>
          <p:nvPr/>
        </p:nvGrpSpPr>
        <p:grpSpPr>
          <a:xfrm>
            <a:off x="0" y="76200"/>
            <a:ext cx="12192000" cy="6610350"/>
            <a:chOff x="0" y="0"/>
            <a:chExt cx="12192000" cy="6610350"/>
          </a:xfrm>
        </p:grpSpPr>
        <p:pic>
          <p:nvPicPr>
            <p:cNvPr id="2" name="m-lines" descr="m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10350"/>
            </a:xfrm>
            <a:prstGeom prst="rect">
              <a:avLst/>
            </a:prstGeom>
          </p:spPr>
        </p:pic>
      </p:grpSp>
      <p:sp>
        <p:nvSpPr>
          <p:cNvPr id="4" name="m-num"/>
          <p:cNvSpPr txBox="1"/>
          <p:nvPr/>
        </p:nvSpPr>
        <p:spPr>
          <a:xfrm>
            <a:off x="11112500" y="6186678"/>
            <a:ext cx="323850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2</a:t>
            </a:r>
            <a:endParaRPr lang="en-US" sz="1200" dirty="0"/>
          </a:p>
        </p:txBody>
      </p:sp>
      <p:grpSp>
        <p:nvGrpSpPr>
          <p:cNvPr id="24" name="m-logo"/>
          <p:cNvGrpSpPr/>
          <p:nvPr/>
        </p:nvGrpSpPr>
        <p:grpSpPr>
          <a:xfrm>
            <a:off x="889000" y="6108700"/>
            <a:ext cx="2514600" cy="254000"/>
            <a:chOff x="0" y="0"/>
            <a:chExt cx="2514600" cy="254000"/>
          </a:xfrm>
        </p:grpSpPr>
        <p:grpSp>
          <p:nvGrpSpPr>
            <p:cNvPr id="12" name="m-logo-jx"/>
            <p:cNvGrpSpPr/>
            <p:nvPr/>
          </p:nvGrpSpPr>
          <p:grpSpPr>
            <a:xfrm>
              <a:off x="0" y="0"/>
              <a:ext cx="1098550" cy="254000"/>
              <a:chOff x="0" y="0"/>
              <a:chExt cx="1098550" cy="254000"/>
            </a:xfrm>
          </p:grpSpPr>
          <p:grpSp>
            <p:nvGrpSpPr>
              <p:cNvPr id="10" name="m-logo-jx-mark"/>
              <p:cNvGrpSpPr/>
              <p:nvPr/>
            </p:nvGrpSpPr>
            <p:grpSpPr>
              <a:xfrm>
                <a:off x="0" y="0"/>
                <a:ext cx="254000" cy="254000"/>
                <a:chOff x="0" y="0"/>
                <a:chExt cx="254000" cy="254000"/>
              </a:xfrm>
            </p:grpSpPr>
            <p:sp>
              <p:nvSpPr>
                <p:cNvPr id="5" name="m-logo-jx-mark-tile"/>
                <p:cNvSpPr/>
                <p:nvPr/>
              </p:nvSpPr>
              <p:spPr>
                <a:xfrm>
                  <a:off x="12700" y="12700"/>
                  <a:ext cx="228600" cy="2286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6" name="m-logo-jx-mark-rail"/>
                <p:cNvSpPr/>
                <p:nvPr/>
              </p:nvSpPr>
              <p:spPr>
                <a:xfrm>
                  <a:off x="50800" y="196850"/>
                  <a:ext cx="1524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7" name="m-logo-jx-mark-halo"/>
                <p:cNvSpPr/>
                <p:nvPr/>
              </p:nvSpPr>
              <p:spPr>
                <a:xfrm>
                  <a:off x="177800" y="25400"/>
                  <a:ext cx="57150" cy="571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8" name="m-logo-jx-mark-led"/>
                <p:cNvSpPr/>
                <p:nvPr/>
              </p:nvSpPr>
              <p:spPr>
                <a:xfrm>
                  <a:off x="190500" y="38100"/>
                  <a:ext cx="25400" cy="2540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9" name="m-logo-jx-mark-jx"/>
                <p:cNvSpPr txBox="1"/>
                <p:nvPr/>
              </p:nvSpPr>
              <p:spPr>
                <a:xfrm>
                  <a:off x="38100" y="29083"/>
                  <a:ext cx="342900" cy="1296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1179"/>
                    </a:lnSpc>
                    <a:buNone/>
                  </a:pPr>
                  <a:r>
                    <a:rPr lang="en-US" sz="90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900" dirty="0"/>
                </a:p>
              </p:txBody>
            </p:sp>
          </p:grpSp>
          <p:sp>
            <p:nvSpPr>
              <p:cNvPr id="11" name="m-logo-jx-word"/>
              <p:cNvSpPr txBox="1"/>
              <p:nvPr/>
            </p:nvSpPr>
            <p:spPr>
              <a:xfrm>
                <a:off x="317500" y="30988"/>
                <a:ext cx="976312" cy="17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00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000" dirty="0"/>
              </a:p>
            </p:txBody>
          </p:sp>
        </p:grpSp>
        <p:sp>
          <p:nvSpPr>
            <p:cNvPr id="13" name="m-logo-plus"/>
            <p:cNvSpPr txBox="1"/>
            <p:nvPr/>
          </p:nvSpPr>
          <p:spPr>
            <a:xfrm>
              <a:off x="1212850" y="-26511"/>
              <a:ext cx="339725" cy="1979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10"/>
                </a:lnSpc>
                <a:buNone/>
              </a:pPr>
              <a:r>
                <a:rPr lang="en-US" sz="12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1250" dirty="0"/>
            </a:p>
          </p:txBody>
        </p:sp>
        <p:grpSp>
          <p:nvGrpSpPr>
            <p:cNvPr id="23" name="m-logo-onyx"/>
            <p:cNvGrpSpPr/>
            <p:nvPr/>
          </p:nvGrpSpPr>
          <p:grpSpPr>
            <a:xfrm>
              <a:off x="1428750" y="0"/>
              <a:ext cx="1085850" cy="254000"/>
              <a:chOff x="0" y="0"/>
              <a:chExt cx="1085850" cy="254000"/>
            </a:xfrm>
          </p:grpSpPr>
          <p:grpSp>
            <p:nvGrpSpPr>
              <p:cNvPr id="21" name="m-logo-onyx-mark"/>
              <p:cNvGrpSpPr/>
              <p:nvPr/>
            </p:nvGrpSpPr>
            <p:grpSpPr>
              <a:xfrm>
                <a:off x="0" y="0"/>
                <a:ext cx="236855" cy="254000"/>
                <a:chOff x="0" y="0"/>
                <a:chExt cx="236855" cy="254000"/>
              </a:xfrm>
            </p:grpSpPr>
            <p:sp>
              <p:nvSpPr>
                <p:cNvPr id="14" name="m-logo-onyx-mark-f0"/>
                <p:cNvSpPr/>
                <p:nvPr/>
              </p:nvSpPr>
              <p:spPr>
                <a:xfrm>
                  <a:off x="0" y="0"/>
                  <a:ext cx="236855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1390">
                      <a:moveTo>
                        <a:pt x="2000" y="0"/>
                      </a:moveTo>
                      <a:lnTo>
                        <a:pt x="3730" y="1000"/>
                      </a:lnTo>
                      <a:lnTo>
                        <a:pt x="2870" y="1390"/>
                      </a:lnTo>
                      <a:lnTo>
                        <a:pt x="2000" y="940"/>
                      </a:lnTo>
                      <a:lnTo>
                        <a:pt x="20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5" name="m-logo-onyx-mark-f1"/>
                <p:cNvSpPr/>
                <p:nvPr/>
              </p:nvSpPr>
              <p:spPr>
                <a:xfrm>
                  <a:off x="0" y="0"/>
                  <a:ext cx="2368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3000">
                      <a:moveTo>
                        <a:pt x="3730" y="1000"/>
                      </a:moveTo>
                      <a:lnTo>
                        <a:pt x="3730" y="3000"/>
                      </a:lnTo>
                      <a:lnTo>
                        <a:pt x="2870" y="2290"/>
                      </a:lnTo>
                      <a:lnTo>
                        <a:pt x="2870" y="1390"/>
                      </a:lnTo>
                      <a:lnTo>
                        <a:pt x="3730" y="100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6" name="m-logo-onyx-mark-f2"/>
                <p:cNvSpPr/>
                <p:nvPr/>
              </p:nvSpPr>
              <p:spPr>
                <a:xfrm>
                  <a:off x="0" y="0"/>
                  <a:ext cx="236855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4000">
                      <a:moveTo>
                        <a:pt x="3730" y="3000"/>
                      </a:moveTo>
                      <a:lnTo>
                        <a:pt x="2000" y="4000"/>
                      </a:lnTo>
                      <a:lnTo>
                        <a:pt x="2000" y="2740"/>
                      </a:lnTo>
                      <a:lnTo>
                        <a:pt x="2870" y="2290"/>
                      </a:lnTo>
                      <a:lnTo>
                        <a:pt x="3730" y="300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m-logo-onyx-mark-f3"/>
                <p:cNvSpPr/>
                <p:nvPr/>
              </p:nvSpPr>
              <p:spPr>
                <a:xfrm>
                  <a:off x="0" y="0"/>
                  <a:ext cx="127000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4000">
                      <a:moveTo>
                        <a:pt x="2000" y="4000"/>
                      </a:moveTo>
                      <a:lnTo>
                        <a:pt x="270" y="3000"/>
                      </a:lnTo>
                      <a:lnTo>
                        <a:pt x="1130" y="2290"/>
                      </a:lnTo>
                      <a:lnTo>
                        <a:pt x="2000" y="2740"/>
                      </a:lnTo>
                      <a:lnTo>
                        <a:pt x="2000" y="4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m-logo-onyx-mark-f4"/>
                <p:cNvSpPr/>
                <p:nvPr/>
              </p:nvSpPr>
              <p:spPr>
                <a:xfrm>
                  <a:off x="0" y="0"/>
                  <a:ext cx="717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30" h="3000">
                      <a:moveTo>
                        <a:pt x="270" y="3000"/>
                      </a:moveTo>
                      <a:lnTo>
                        <a:pt x="270" y="1000"/>
                      </a:lnTo>
                      <a:lnTo>
                        <a:pt x="1130" y="1390"/>
                      </a:lnTo>
                      <a:lnTo>
                        <a:pt x="1130" y="2290"/>
                      </a:lnTo>
                      <a:lnTo>
                        <a:pt x="270" y="300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m-logo-onyx-mark-f5"/>
                <p:cNvSpPr/>
                <p:nvPr/>
              </p:nvSpPr>
              <p:spPr>
                <a:xfrm>
                  <a:off x="0" y="0"/>
                  <a:ext cx="127000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1390">
                      <a:moveTo>
                        <a:pt x="270" y="1000"/>
                      </a:moveTo>
                      <a:lnTo>
                        <a:pt x="2000" y="0"/>
                      </a:lnTo>
                      <a:lnTo>
                        <a:pt x="2000" y="940"/>
                      </a:lnTo>
                      <a:lnTo>
                        <a:pt x="1130" y="1390"/>
                      </a:lnTo>
                      <a:lnTo>
                        <a:pt x="270" y="100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0" name="m-logo-onyx-mark-table"/>
                <p:cNvSpPr/>
                <p:nvPr/>
              </p:nvSpPr>
              <p:spPr>
                <a:xfrm>
                  <a:off x="0" y="0"/>
                  <a:ext cx="182245" cy="1739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70" h="2740">
                      <a:moveTo>
                        <a:pt x="2000" y="940"/>
                      </a:moveTo>
                      <a:lnTo>
                        <a:pt x="2870" y="1390"/>
                      </a:lnTo>
                      <a:lnTo>
                        <a:pt x="2870" y="2290"/>
                      </a:lnTo>
                      <a:lnTo>
                        <a:pt x="2000" y="2740"/>
                      </a:lnTo>
                      <a:lnTo>
                        <a:pt x="1130" y="2290"/>
                      </a:lnTo>
                      <a:lnTo>
                        <a:pt x="1130" y="1390"/>
                      </a:lnTo>
                      <a:lnTo>
                        <a:pt x="2000" y="94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2" name="m-logo-onyx-word"/>
              <p:cNvSpPr txBox="1"/>
              <p:nvPr/>
            </p:nvSpPr>
            <p:spPr>
              <a:xfrm>
                <a:off x="317500" y="42926"/>
                <a:ext cx="960438" cy="166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00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000" dirty="0"/>
              </a:p>
            </p:txBody>
          </p:sp>
        </p:grpSp>
      </p:grpSp>
      <p:sp>
        <p:nvSpPr>
          <p:cNvPr id="25" name="tw-kicker"/>
          <p:cNvSpPr txBox="1"/>
          <p:nvPr/>
        </p:nvSpPr>
        <p:spPr>
          <a:xfrm>
            <a:off x="889000" y="662330"/>
            <a:ext cx="1373188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TWO PROJECTS</a:t>
            </a:r>
            <a:endParaRPr lang="en-US" sz="1200" dirty="0"/>
          </a:p>
        </p:txBody>
      </p:sp>
      <p:sp>
        <p:nvSpPr>
          <p:cNvPr id="26" name="tw-title"/>
          <p:cNvSpPr>
            <a:spLocks noGrp="1"/>
          </p:cNvSpPr>
          <p:nvPr>
            <p:ph type="title"/>
          </p:nvPr>
        </p:nvSpPr>
        <p:spPr>
          <a:xfrm>
            <a:off x="889000" y="1163625"/>
            <a:ext cx="13739812" cy="582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Execution and access, </a:t>
            </a:r>
            <a:r>
              <a:rPr lang="en-US" sz="48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kept apart.</a:t>
            </a:r>
            <a:endParaRPr lang="en-US" sz="4800" dirty="0"/>
          </a:p>
        </p:txBody>
      </p:sp>
      <p:sp>
        <p:nvSpPr>
          <p:cNvPr id="27" name="tw0"/>
          <p:cNvSpPr/>
          <p:nvPr/>
        </p:nvSpPr>
        <p:spPr>
          <a:xfrm>
            <a:off x="908050" y="2146300"/>
            <a:ext cx="5041900" cy="3771900"/>
          </a:xfrm>
          <a:prstGeom prst="roundRect">
            <a:avLst>
              <a:gd name="adj" fmla="val 4461"/>
            </a:avLst>
          </a:prstGeom>
          <a:solidFill>
            <a:srgbClr val="151619"/>
          </a:solidFill>
          <a:ln w="19050">
            <a:solidFill>
              <a:srgbClr val="FF2D55"/>
            </a:solidFill>
          </a:ln>
        </p:spPr>
      </p:sp>
      <p:sp>
        <p:nvSpPr>
          <p:cNvPr id="28" name="tw0-h"/>
          <p:cNvSpPr txBox="1"/>
          <p:nvPr/>
        </p:nvSpPr>
        <p:spPr>
          <a:xfrm>
            <a:off x="1841500" y="2351722"/>
            <a:ext cx="2444750" cy="2898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70"/>
              </a:lnSpc>
              <a:buNone/>
            </a:pPr>
            <a:r>
              <a:rPr lang="en-US" sz="25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JX Runtime</a:t>
            </a:r>
            <a:endParaRPr lang="en-US" sz="2500" dirty="0"/>
          </a:p>
        </p:txBody>
      </p:sp>
      <p:sp>
        <p:nvSpPr>
          <p:cNvPr id="29" name="tw0-l"/>
          <p:cNvSpPr txBox="1"/>
          <p:nvPr/>
        </p:nvSpPr>
        <p:spPr>
          <a:xfrm>
            <a:off x="1206500" y="2995625"/>
            <a:ext cx="4445000" cy="4905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8FA6"/>
                </a:solidFill>
                <a:latin typeface="Archivo"/>
                <a:ea typeface="Archivo"/>
                <a:cs typeface="Archivo"/>
              </a:rPr>
              <a:t>The local model runtime you can expose to someone other than yourself.</a:t>
            </a:r>
            <a:endParaRPr lang="en-US" sz="1400" dirty="0"/>
          </a:p>
        </p:txBody>
      </p:sp>
      <p:sp>
        <p:nvSpPr>
          <p:cNvPr id="30" name="tw0-px0"/>
          <p:cNvSpPr/>
          <p:nvPr/>
        </p:nvSpPr>
        <p:spPr>
          <a:xfrm>
            <a:off x="1206500" y="37655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31" name="tw0-j0"/>
          <p:cNvSpPr txBox="1"/>
          <p:nvPr/>
        </p:nvSpPr>
        <p:spPr>
          <a:xfrm>
            <a:off x="1435100" y="3589972"/>
            <a:ext cx="2301875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Access keys &amp; pairing</a:t>
            </a:r>
            <a:endParaRPr lang="en-US" sz="1500" dirty="0"/>
          </a:p>
        </p:txBody>
      </p:sp>
      <p:sp>
        <p:nvSpPr>
          <p:cNvPr id="32" name="tw0-px1"/>
          <p:cNvSpPr/>
          <p:nvPr/>
        </p:nvSpPr>
        <p:spPr>
          <a:xfrm>
            <a:off x="1206500" y="41084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33" name="tw0-j1"/>
          <p:cNvSpPr txBox="1"/>
          <p:nvPr/>
        </p:nvSpPr>
        <p:spPr>
          <a:xfrm>
            <a:off x="1435100" y="3932872"/>
            <a:ext cx="2389188" cy="270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TLS &amp; network posture</a:t>
            </a:r>
            <a:endParaRPr lang="en-US" sz="1500" dirty="0"/>
          </a:p>
        </p:txBody>
      </p:sp>
      <p:sp>
        <p:nvSpPr>
          <p:cNvPr id="34" name="tw0-px2"/>
          <p:cNvSpPr/>
          <p:nvPr/>
        </p:nvSpPr>
        <p:spPr>
          <a:xfrm>
            <a:off x="1206500" y="44513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35" name="tw0-j2"/>
          <p:cNvSpPr txBox="1"/>
          <p:nvPr/>
        </p:nvSpPr>
        <p:spPr>
          <a:xfrm>
            <a:off x="1435100" y="4277296"/>
            <a:ext cx="2706688" cy="243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Model installs &amp; fit checks</a:t>
            </a:r>
            <a:endParaRPr lang="en-US" sz="1500" dirty="0"/>
          </a:p>
        </p:txBody>
      </p:sp>
      <p:sp>
        <p:nvSpPr>
          <p:cNvPr id="36" name="tw0-px3"/>
          <p:cNvSpPr/>
          <p:nvPr/>
        </p:nvSpPr>
        <p:spPr>
          <a:xfrm>
            <a:off x="1206500" y="47942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37" name="tw0-j3"/>
          <p:cNvSpPr txBox="1"/>
          <p:nvPr/>
        </p:nvSpPr>
        <p:spPr>
          <a:xfrm>
            <a:off x="1435100" y="4618672"/>
            <a:ext cx="2619375" cy="2454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Crash detection &amp; restart</a:t>
            </a:r>
            <a:endParaRPr lang="en-US" sz="1500" dirty="0"/>
          </a:p>
        </p:txBody>
      </p:sp>
      <p:sp>
        <p:nvSpPr>
          <p:cNvPr id="38" name="tw0-px4"/>
          <p:cNvSpPr/>
          <p:nvPr/>
        </p:nvSpPr>
        <p:spPr>
          <a:xfrm>
            <a:off x="1206500" y="51371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39" name="tw0-j4"/>
          <p:cNvSpPr txBox="1"/>
          <p:nvPr/>
        </p:nvSpPr>
        <p:spPr>
          <a:xfrm>
            <a:off x="1435100" y="4961572"/>
            <a:ext cx="2452688" cy="2454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Metrics without content</a:t>
            </a:r>
            <a:endParaRPr lang="en-US" sz="1500" dirty="0"/>
          </a:p>
        </p:txBody>
      </p:sp>
      <p:sp>
        <p:nvSpPr>
          <p:cNvPr id="40" name="tw0-px5"/>
          <p:cNvSpPr/>
          <p:nvPr/>
        </p:nvSpPr>
        <p:spPr>
          <a:xfrm>
            <a:off x="1206500" y="5480050"/>
            <a:ext cx="101600" cy="10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41" name="tw0-j5"/>
          <p:cNvSpPr txBox="1"/>
          <p:nvPr/>
        </p:nvSpPr>
        <p:spPr>
          <a:xfrm>
            <a:off x="1435100" y="5304472"/>
            <a:ext cx="1028700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Audit log</a:t>
            </a:r>
            <a:endParaRPr lang="en-US" sz="1500" dirty="0"/>
          </a:p>
        </p:txBody>
      </p:sp>
      <p:sp>
        <p:nvSpPr>
          <p:cNvPr id="42" name="tw1"/>
          <p:cNvSpPr/>
          <p:nvPr/>
        </p:nvSpPr>
        <p:spPr>
          <a:xfrm>
            <a:off x="6242050" y="2146300"/>
            <a:ext cx="5041900" cy="3771900"/>
          </a:xfrm>
          <a:prstGeom prst="roundRect">
            <a:avLst>
              <a:gd name="adj" fmla="val 4461"/>
            </a:avLst>
          </a:prstGeom>
          <a:solidFill>
            <a:srgbClr val="151619"/>
          </a:solidFill>
          <a:ln w="19050">
            <a:solidFill>
              <a:srgbClr val="2DD4BF"/>
            </a:solidFill>
          </a:ln>
        </p:spPr>
      </p:sp>
      <p:sp>
        <p:nvSpPr>
          <p:cNvPr id="43" name="tw1-h"/>
          <p:cNvSpPr txBox="1"/>
          <p:nvPr/>
        </p:nvSpPr>
        <p:spPr>
          <a:xfrm>
            <a:off x="7175500" y="2378075"/>
            <a:ext cx="2389188" cy="3206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40"/>
              </a:lnSpc>
              <a:buNone/>
            </a:pPr>
            <a:r>
              <a:rPr lang="en-US" sz="250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Onyx Engine</a:t>
            </a:r>
            <a:endParaRPr lang="en-US" sz="2500" dirty="0"/>
          </a:p>
        </p:txBody>
      </p:sp>
      <p:sp>
        <p:nvSpPr>
          <p:cNvPr id="44" name="tw1-l"/>
          <p:cNvSpPr txBox="1"/>
          <p:nvPr/>
        </p:nvSpPr>
        <p:spPr>
          <a:xfrm>
            <a:off x="6540500" y="3012338"/>
            <a:ext cx="4445000" cy="4738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9F6E4"/>
                </a:solidFill>
                <a:latin typeface="Space Grotesk"/>
                <a:ea typeface="Space Grotesk"/>
                <a:cs typeface="Space Grotesk"/>
              </a:rPr>
              <a:t>A single-model, OpenAI-compatible server built on llama.cpp.</a:t>
            </a:r>
            <a:endParaRPr lang="en-US" sz="1400" dirty="0"/>
          </a:p>
        </p:txBody>
      </p:sp>
      <p:sp>
        <p:nvSpPr>
          <p:cNvPr id="45" name="tw1-px0"/>
          <p:cNvSpPr/>
          <p:nvPr/>
        </p:nvSpPr>
        <p:spPr>
          <a:xfrm>
            <a:off x="6540500" y="37655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6" name="tw1-j0"/>
          <p:cNvSpPr txBox="1"/>
          <p:nvPr/>
        </p:nvSpPr>
        <p:spPr>
          <a:xfrm>
            <a:off x="6769100" y="3591496"/>
            <a:ext cx="2397125" cy="2756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Inference on llama.cpp</a:t>
            </a:r>
            <a:endParaRPr lang="en-US" sz="1500" dirty="0"/>
          </a:p>
        </p:txBody>
      </p:sp>
      <p:sp>
        <p:nvSpPr>
          <p:cNvPr id="47" name="tw1-px1"/>
          <p:cNvSpPr/>
          <p:nvPr/>
        </p:nvSpPr>
        <p:spPr>
          <a:xfrm>
            <a:off x="6540500" y="41084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8" name="tw1-j1"/>
          <p:cNvSpPr txBox="1"/>
          <p:nvPr/>
        </p:nvSpPr>
        <p:spPr>
          <a:xfrm>
            <a:off x="6769100" y="3932872"/>
            <a:ext cx="2190750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Continuous batching</a:t>
            </a:r>
            <a:endParaRPr lang="en-US" sz="1500" dirty="0"/>
          </a:p>
        </p:txBody>
      </p:sp>
      <p:sp>
        <p:nvSpPr>
          <p:cNvPr id="49" name="tw1-px2"/>
          <p:cNvSpPr/>
          <p:nvPr/>
        </p:nvSpPr>
        <p:spPr>
          <a:xfrm>
            <a:off x="6540500" y="44513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50" name="tw1-j2"/>
          <p:cNvSpPr txBox="1"/>
          <p:nvPr/>
        </p:nvSpPr>
        <p:spPr>
          <a:xfrm>
            <a:off x="6769100" y="4275772"/>
            <a:ext cx="2135188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Streaming over SSE</a:t>
            </a:r>
            <a:endParaRPr lang="en-US" sz="1500" dirty="0"/>
          </a:p>
        </p:txBody>
      </p:sp>
      <p:sp>
        <p:nvSpPr>
          <p:cNvPr id="51" name="tw1-px3"/>
          <p:cNvSpPr/>
          <p:nvPr/>
        </p:nvSpPr>
        <p:spPr>
          <a:xfrm>
            <a:off x="6540500" y="47942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52" name="tw1-j3"/>
          <p:cNvSpPr txBox="1"/>
          <p:nvPr/>
        </p:nvSpPr>
        <p:spPr>
          <a:xfrm>
            <a:off x="6769100" y="4618672"/>
            <a:ext cx="2325688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Tool calls &amp; grammars</a:t>
            </a:r>
            <a:endParaRPr lang="en-US" sz="1500" dirty="0"/>
          </a:p>
        </p:txBody>
      </p:sp>
      <p:sp>
        <p:nvSpPr>
          <p:cNvPr id="53" name="tw1-px4"/>
          <p:cNvSpPr/>
          <p:nvPr/>
        </p:nvSpPr>
        <p:spPr>
          <a:xfrm>
            <a:off x="6540500" y="51371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54" name="tw1-j4"/>
          <p:cNvSpPr txBox="1"/>
          <p:nvPr/>
        </p:nvSpPr>
        <p:spPr>
          <a:xfrm>
            <a:off x="6769100" y="4961572"/>
            <a:ext cx="1365250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Embeddings</a:t>
            </a:r>
            <a:endParaRPr lang="en-US" sz="1500" dirty="0"/>
          </a:p>
        </p:txBody>
      </p:sp>
      <p:sp>
        <p:nvSpPr>
          <p:cNvPr id="55" name="tw1-px5"/>
          <p:cNvSpPr/>
          <p:nvPr/>
        </p:nvSpPr>
        <p:spPr>
          <a:xfrm>
            <a:off x="6540500" y="5480050"/>
            <a:ext cx="101600" cy="1016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56" name="tw1-j5"/>
          <p:cNvSpPr txBox="1"/>
          <p:nvPr/>
        </p:nvSpPr>
        <p:spPr>
          <a:xfrm>
            <a:off x="6769100" y="5304472"/>
            <a:ext cx="1754188" cy="270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Multimodal input</a:t>
            </a:r>
            <a:endParaRPr lang="en-US" sz="1500" dirty="0"/>
          </a:p>
        </p:txBody>
      </p:sp>
      <p:grpSp>
        <p:nvGrpSpPr>
          <p:cNvPr id="62" name="tw-tile"/>
          <p:cNvGrpSpPr/>
          <p:nvPr/>
        </p:nvGrpSpPr>
        <p:grpSpPr>
          <a:xfrm>
            <a:off x="1206500" y="2343150"/>
            <a:ext cx="508000" cy="508000"/>
            <a:chOff x="0" y="0"/>
            <a:chExt cx="508000" cy="508000"/>
          </a:xfrm>
        </p:grpSpPr>
        <p:sp>
          <p:nvSpPr>
            <p:cNvPr id="57" name="tw-tile-tile"/>
            <p:cNvSpPr/>
            <p:nvPr/>
          </p:nvSpPr>
          <p:spPr>
            <a:xfrm>
              <a:off x="12700" y="12700"/>
              <a:ext cx="482600" cy="482600"/>
            </a:xfrm>
            <a:prstGeom prst="roundRect">
              <a:avLst>
                <a:gd name="adj" fmla="val 22368"/>
              </a:avLst>
            </a:prstGeom>
            <a:solidFill>
              <a:srgbClr val="17171B"/>
            </a:solidFill>
            <a:ln w="12700">
              <a:solidFill>
                <a:srgbClr val="3A3842"/>
              </a:solidFill>
            </a:ln>
          </p:spPr>
        </p:sp>
        <p:sp>
          <p:nvSpPr>
            <p:cNvPr id="58" name="tw-tile-rail"/>
            <p:cNvSpPr/>
            <p:nvPr/>
          </p:nvSpPr>
          <p:spPr>
            <a:xfrm>
              <a:off x="101600" y="393700"/>
              <a:ext cx="304800" cy="19050"/>
            </a:xfrm>
            <a:prstGeom prst="roundRect">
              <a:avLst>
                <a:gd name="adj" fmla="val 50000"/>
              </a:avLst>
            </a:prstGeom>
            <a:solidFill>
              <a:srgbClr val="FF2D55"/>
            </a:solidFill>
            <a:ln>
              <a:noFill/>
            </a:ln>
          </p:spPr>
        </p:sp>
        <p:sp>
          <p:nvSpPr>
            <p:cNvPr id="59" name="tw-tile-halo"/>
            <p:cNvSpPr/>
            <p:nvPr/>
          </p:nvSpPr>
          <p:spPr>
            <a:xfrm>
              <a:off x="355600" y="44450"/>
              <a:ext cx="114300" cy="114300"/>
            </a:xfrm>
            <a:prstGeom prst="ellipse">
              <a:avLst/>
            </a:prstGeom>
            <a:solidFill>
              <a:srgbClr val="FF2D55">
                <a:alpha val="21961"/>
              </a:srgbClr>
            </a:solidFill>
            <a:ln>
              <a:noFill/>
            </a:ln>
          </p:spPr>
        </p:sp>
        <p:sp>
          <p:nvSpPr>
            <p:cNvPr id="60" name="tw-tile-led"/>
            <p:cNvSpPr/>
            <p:nvPr/>
          </p:nvSpPr>
          <p:spPr>
            <a:xfrm>
              <a:off x="387350" y="76200"/>
              <a:ext cx="50800" cy="50800"/>
            </a:xfrm>
            <a:prstGeom prst="ellipse">
              <a:avLst/>
            </a:prstGeom>
            <a:solidFill>
              <a:srgbClr val="FF2D55"/>
            </a:solidFill>
            <a:ln>
              <a:noFill/>
            </a:ln>
          </p:spPr>
        </p:sp>
        <p:sp>
          <p:nvSpPr>
            <p:cNvPr id="61" name="tw-tile-jx"/>
            <p:cNvSpPr txBox="1"/>
            <p:nvPr/>
          </p:nvSpPr>
          <p:spPr>
            <a:xfrm>
              <a:off x="82550" y="59372"/>
              <a:ext cx="657225" cy="2581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354"/>
                </a:lnSpc>
                <a:buNone/>
              </a:pPr>
              <a:r>
                <a:rPr lang="en-US" sz="1750" b="1" dirty="0">
                  <a:solidFill>
                    <a:srgbClr val="F1EEE9"/>
                  </a:solidFill>
                  <a:latin typeface="Archivo"/>
                  <a:ea typeface="Archivo"/>
                  <a:cs typeface="Archivo"/>
                </a:rPr>
                <a:t>JX</a:t>
              </a:r>
              <a:endParaRPr lang="en-US" sz="1750" dirty="0"/>
            </a:p>
          </p:txBody>
        </p:sp>
      </p:grpSp>
      <p:grpSp>
        <p:nvGrpSpPr>
          <p:cNvPr id="70" name="tw-gem"/>
          <p:cNvGrpSpPr/>
          <p:nvPr/>
        </p:nvGrpSpPr>
        <p:grpSpPr>
          <a:xfrm>
            <a:off x="6540500" y="2343150"/>
            <a:ext cx="473710" cy="508000"/>
            <a:chOff x="0" y="0"/>
            <a:chExt cx="473710" cy="508000"/>
          </a:xfrm>
        </p:grpSpPr>
        <p:sp>
          <p:nvSpPr>
            <p:cNvPr id="63" name="tw-gem-f0"/>
            <p:cNvSpPr/>
            <p:nvPr/>
          </p:nvSpPr>
          <p:spPr>
            <a:xfrm>
              <a:off x="0" y="0"/>
              <a:ext cx="473710" cy="176530"/>
            </a:xfrm>
            <a:custGeom>
              <a:avLst/>
              <a:gdLst/>
              <a:ahLst/>
              <a:cxnLst/>
              <a:rect l="0" t="0" r="r" b="b"/>
              <a:pathLst>
                <a:path w="7460" h="2780">
                  <a:moveTo>
                    <a:pt x="4000" y="0"/>
                  </a:moveTo>
                  <a:lnTo>
                    <a:pt x="7460" y="2000"/>
                  </a:lnTo>
                  <a:lnTo>
                    <a:pt x="5730" y="2780"/>
                  </a:lnTo>
                  <a:lnTo>
                    <a:pt x="4000" y="1880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rgbClr val="1D4A47"/>
            </a:solidFill>
            <a:ln w="6350">
              <a:solidFill>
                <a:srgbClr val="2DD4BF"/>
              </a:solidFill>
            </a:ln>
          </p:spPr>
        </p:sp>
        <p:sp>
          <p:nvSpPr>
            <p:cNvPr id="64" name="tw-gem-f1"/>
            <p:cNvSpPr/>
            <p:nvPr/>
          </p:nvSpPr>
          <p:spPr>
            <a:xfrm>
              <a:off x="0" y="0"/>
              <a:ext cx="473710" cy="381000"/>
            </a:xfrm>
            <a:custGeom>
              <a:avLst/>
              <a:gdLst/>
              <a:ahLst/>
              <a:cxnLst/>
              <a:rect l="0" t="0" r="r" b="b"/>
              <a:pathLst>
                <a:path w="7460" h="6000">
                  <a:moveTo>
                    <a:pt x="7460" y="2000"/>
                  </a:moveTo>
                  <a:lnTo>
                    <a:pt x="7460" y="6000"/>
                  </a:lnTo>
                  <a:lnTo>
                    <a:pt x="5730" y="4580"/>
                  </a:lnTo>
                  <a:lnTo>
                    <a:pt x="5730" y="2780"/>
                  </a:lnTo>
                  <a:lnTo>
                    <a:pt x="7460" y="2000"/>
                  </a:lnTo>
                  <a:close/>
                </a:path>
              </a:pathLst>
            </a:custGeom>
            <a:solidFill>
              <a:srgbClr val="16262B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5" name="tw-gem-f2"/>
            <p:cNvSpPr/>
            <p:nvPr/>
          </p:nvSpPr>
          <p:spPr>
            <a:xfrm>
              <a:off x="0" y="0"/>
              <a:ext cx="473710" cy="508000"/>
            </a:xfrm>
            <a:custGeom>
              <a:avLst/>
              <a:gdLst/>
              <a:ahLst/>
              <a:cxnLst/>
              <a:rect l="0" t="0" r="r" b="b"/>
              <a:pathLst>
                <a:path w="7460" h="8000">
                  <a:moveTo>
                    <a:pt x="7460" y="6000"/>
                  </a:moveTo>
                  <a:lnTo>
                    <a:pt x="4000" y="8000"/>
                  </a:lnTo>
                  <a:lnTo>
                    <a:pt x="4000" y="5480"/>
                  </a:lnTo>
                  <a:lnTo>
                    <a:pt x="5730" y="4580"/>
                  </a:lnTo>
                  <a:lnTo>
                    <a:pt x="7460" y="6000"/>
                  </a:lnTo>
                  <a:close/>
                </a:path>
              </a:pathLst>
            </a:custGeom>
            <a:solidFill>
              <a:srgbClr val="0E1518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6" name="tw-gem-f3"/>
            <p:cNvSpPr/>
            <p:nvPr/>
          </p:nvSpPr>
          <p:spPr>
            <a:xfrm>
              <a:off x="0" y="0"/>
              <a:ext cx="254000" cy="508000"/>
            </a:xfrm>
            <a:custGeom>
              <a:avLst/>
              <a:gdLst/>
              <a:ahLst/>
              <a:cxnLst/>
              <a:rect l="0" t="0" r="r" b="b"/>
              <a:pathLst>
                <a:path w="4000" h="8000">
                  <a:moveTo>
                    <a:pt x="4000" y="8000"/>
                  </a:moveTo>
                  <a:lnTo>
                    <a:pt x="540" y="6000"/>
                  </a:lnTo>
                  <a:lnTo>
                    <a:pt x="2270" y="4580"/>
                  </a:lnTo>
                  <a:lnTo>
                    <a:pt x="4000" y="5480"/>
                  </a:lnTo>
                  <a:lnTo>
                    <a:pt x="4000" y="8000"/>
                  </a:lnTo>
                  <a:close/>
                </a:path>
              </a:pathLst>
            </a:custGeom>
            <a:solidFill>
              <a:srgbClr val="070B0D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7" name="tw-gem-f4"/>
            <p:cNvSpPr/>
            <p:nvPr/>
          </p:nvSpPr>
          <p:spPr>
            <a:xfrm>
              <a:off x="0" y="0"/>
              <a:ext cx="144145" cy="381000"/>
            </a:xfrm>
            <a:custGeom>
              <a:avLst/>
              <a:gdLst/>
              <a:ahLst/>
              <a:cxnLst/>
              <a:rect l="0" t="0" r="r" b="b"/>
              <a:pathLst>
                <a:path w="2270" h="6000">
                  <a:moveTo>
                    <a:pt x="540" y="6000"/>
                  </a:moveTo>
                  <a:lnTo>
                    <a:pt x="540" y="2000"/>
                  </a:lnTo>
                  <a:lnTo>
                    <a:pt x="2270" y="2780"/>
                  </a:lnTo>
                  <a:lnTo>
                    <a:pt x="2270" y="4580"/>
                  </a:lnTo>
                  <a:lnTo>
                    <a:pt x="540" y="6000"/>
                  </a:lnTo>
                  <a:close/>
                </a:path>
              </a:pathLst>
            </a:custGeom>
            <a:solidFill>
              <a:srgbClr val="0B1114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8" name="tw-gem-f5"/>
            <p:cNvSpPr/>
            <p:nvPr/>
          </p:nvSpPr>
          <p:spPr>
            <a:xfrm>
              <a:off x="0" y="0"/>
              <a:ext cx="254000" cy="176530"/>
            </a:xfrm>
            <a:custGeom>
              <a:avLst/>
              <a:gdLst/>
              <a:ahLst/>
              <a:cxnLst/>
              <a:rect l="0" t="0" r="r" b="b"/>
              <a:pathLst>
                <a:path w="4000" h="2780">
                  <a:moveTo>
                    <a:pt x="540" y="2000"/>
                  </a:moveTo>
                  <a:lnTo>
                    <a:pt x="4000" y="0"/>
                  </a:lnTo>
                  <a:lnTo>
                    <a:pt x="4000" y="1880"/>
                  </a:lnTo>
                  <a:lnTo>
                    <a:pt x="2270" y="2780"/>
                  </a:lnTo>
                  <a:lnTo>
                    <a:pt x="540" y="2000"/>
                  </a:lnTo>
                  <a:close/>
                </a:path>
              </a:pathLst>
            </a:custGeom>
            <a:solidFill>
              <a:srgbClr val="1A2E33"/>
            </a:solidFill>
            <a:ln w="6350">
              <a:solidFill>
                <a:srgbClr val="2DD4BF"/>
              </a:solidFill>
            </a:ln>
          </p:spPr>
        </p:sp>
        <p:sp>
          <p:nvSpPr>
            <p:cNvPr id="69" name="tw-gem-table"/>
            <p:cNvSpPr/>
            <p:nvPr/>
          </p:nvSpPr>
          <p:spPr>
            <a:xfrm>
              <a:off x="0" y="0"/>
              <a:ext cx="363855" cy="347980"/>
            </a:xfrm>
            <a:custGeom>
              <a:avLst/>
              <a:gdLst/>
              <a:ahLst/>
              <a:cxnLst/>
              <a:rect l="0" t="0" r="r" b="b"/>
              <a:pathLst>
                <a:path w="5730" h="5480">
                  <a:moveTo>
                    <a:pt x="4000" y="1880"/>
                  </a:moveTo>
                  <a:lnTo>
                    <a:pt x="5730" y="2780"/>
                  </a:lnTo>
                  <a:lnTo>
                    <a:pt x="5730" y="4580"/>
                  </a:lnTo>
                  <a:lnTo>
                    <a:pt x="4000" y="5480"/>
                  </a:lnTo>
                  <a:lnTo>
                    <a:pt x="2270" y="4580"/>
                  </a:lnTo>
                  <a:lnTo>
                    <a:pt x="2270" y="2780"/>
                  </a:lnTo>
                  <a:lnTo>
                    <a:pt x="4000" y="1880"/>
                  </a:lnTo>
                  <a:close/>
                </a:path>
              </a:pathLst>
            </a:custGeom>
            <a:solidFill>
              <a:srgbClr val="0A1013"/>
            </a:solidFill>
            <a:ln w="6350">
              <a:solidFill>
                <a:srgbClr val="99F6E4"/>
              </a:solidFill>
            </a:ln>
          </p:spPr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m-lines-set"/>
          <p:cNvGrpSpPr/>
          <p:nvPr/>
        </p:nvGrpSpPr>
        <p:grpSpPr>
          <a:xfrm>
            <a:off x="0" y="76200"/>
            <a:ext cx="12192000" cy="6610350"/>
            <a:chOff x="0" y="0"/>
            <a:chExt cx="12192000" cy="6610350"/>
          </a:xfrm>
        </p:grpSpPr>
        <p:pic>
          <p:nvPicPr>
            <p:cNvPr id="2" name="m-lines" descr="m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10350"/>
            </a:xfrm>
            <a:prstGeom prst="rect">
              <a:avLst/>
            </a:prstGeom>
          </p:spPr>
        </p:pic>
      </p:grpSp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3</a:t>
            </a:r>
            <a:endParaRPr lang="en-US" sz="1200" dirty="0"/>
          </a:p>
        </p:txBody>
      </p:sp>
      <p:grpSp>
        <p:nvGrpSpPr>
          <p:cNvPr id="24" name="m-logo"/>
          <p:cNvGrpSpPr/>
          <p:nvPr/>
        </p:nvGrpSpPr>
        <p:grpSpPr>
          <a:xfrm>
            <a:off x="889000" y="6108700"/>
            <a:ext cx="2514600" cy="254000"/>
            <a:chOff x="0" y="0"/>
            <a:chExt cx="2514600" cy="254000"/>
          </a:xfrm>
        </p:grpSpPr>
        <p:grpSp>
          <p:nvGrpSpPr>
            <p:cNvPr id="12" name="m-logo-jx"/>
            <p:cNvGrpSpPr/>
            <p:nvPr/>
          </p:nvGrpSpPr>
          <p:grpSpPr>
            <a:xfrm>
              <a:off x="0" y="0"/>
              <a:ext cx="1098550" cy="254000"/>
              <a:chOff x="0" y="0"/>
              <a:chExt cx="1098550" cy="254000"/>
            </a:xfrm>
          </p:grpSpPr>
          <p:grpSp>
            <p:nvGrpSpPr>
              <p:cNvPr id="10" name="m-logo-jx-mark"/>
              <p:cNvGrpSpPr/>
              <p:nvPr/>
            </p:nvGrpSpPr>
            <p:grpSpPr>
              <a:xfrm>
                <a:off x="0" y="0"/>
                <a:ext cx="254000" cy="254000"/>
                <a:chOff x="0" y="0"/>
                <a:chExt cx="254000" cy="254000"/>
              </a:xfrm>
            </p:grpSpPr>
            <p:sp>
              <p:nvSpPr>
                <p:cNvPr id="5" name="m-logo-jx-mark-tile"/>
                <p:cNvSpPr/>
                <p:nvPr/>
              </p:nvSpPr>
              <p:spPr>
                <a:xfrm>
                  <a:off x="12700" y="12700"/>
                  <a:ext cx="228600" cy="2286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6" name="m-logo-jx-mark-rail"/>
                <p:cNvSpPr/>
                <p:nvPr/>
              </p:nvSpPr>
              <p:spPr>
                <a:xfrm>
                  <a:off x="50800" y="196850"/>
                  <a:ext cx="1524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7" name="m-logo-jx-mark-halo"/>
                <p:cNvSpPr/>
                <p:nvPr/>
              </p:nvSpPr>
              <p:spPr>
                <a:xfrm>
                  <a:off x="177800" y="25400"/>
                  <a:ext cx="57150" cy="571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8" name="m-logo-jx-mark-led"/>
                <p:cNvSpPr/>
                <p:nvPr/>
              </p:nvSpPr>
              <p:spPr>
                <a:xfrm>
                  <a:off x="190500" y="38100"/>
                  <a:ext cx="25400" cy="2540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9" name="m-logo-jx-mark-jx"/>
                <p:cNvSpPr txBox="1"/>
                <p:nvPr/>
              </p:nvSpPr>
              <p:spPr>
                <a:xfrm>
                  <a:off x="38100" y="29083"/>
                  <a:ext cx="342900" cy="1296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1179"/>
                    </a:lnSpc>
                    <a:buNone/>
                  </a:pPr>
                  <a:r>
                    <a:rPr lang="en-US" sz="90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900" dirty="0"/>
                </a:p>
              </p:txBody>
            </p:sp>
          </p:grpSp>
          <p:sp>
            <p:nvSpPr>
              <p:cNvPr id="11" name="m-logo-jx-word"/>
              <p:cNvSpPr txBox="1"/>
              <p:nvPr/>
            </p:nvSpPr>
            <p:spPr>
              <a:xfrm>
                <a:off x="317500" y="30988"/>
                <a:ext cx="976312" cy="17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00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000" dirty="0"/>
              </a:p>
            </p:txBody>
          </p:sp>
        </p:grpSp>
        <p:sp>
          <p:nvSpPr>
            <p:cNvPr id="13" name="m-logo-plus"/>
            <p:cNvSpPr txBox="1"/>
            <p:nvPr/>
          </p:nvSpPr>
          <p:spPr>
            <a:xfrm>
              <a:off x="1212850" y="-26511"/>
              <a:ext cx="339725" cy="1979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10"/>
                </a:lnSpc>
                <a:buNone/>
              </a:pPr>
              <a:r>
                <a:rPr lang="en-US" sz="12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1250" dirty="0"/>
            </a:p>
          </p:txBody>
        </p:sp>
        <p:grpSp>
          <p:nvGrpSpPr>
            <p:cNvPr id="23" name="m-logo-onyx"/>
            <p:cNvGrpSpPr/>
            <p:nvPr/>
          </p:nvGrpSpPr>
          <p:grpSpPr>
            <a:xfrm>
              <a:off x="1428750" y="0"/>
              <a:ext cx="1085850" cy="254000"/>
              <a:chOff x="0" y="0"/>
              <a:chExt cx="1085850" cy="254000"/>
            </a:xfrm>
          </p:grpSpPr>
          <p:grpSp>
            <p:nvGrpSpPr>
              <p:cNvPr id="21" name="m-logo-onyx-mark"/>
              <p:cNvGrpSpPr/>
              <p:nvPr/>
            </p:nvGrpSpPr>
            <p:grpSpPr>
              <a:xfrm>
                <a:off x="0" y="0"/>
                <a:ext cx="236855" cy="254000"/>
                <a:chOff x="0" y="0"/>
                <a:chExt cx="236855" cy="254000"/>
              </a:xfrm>
            </p:grpSpPr>
            <p:sp>
              <p:nvSpPr>
                <p:cNvPr id="14" name="m-logo-onyx-mark-f0"/>
                <p:cNvSpPr/>
                <p:nvPr/>
              </p:nvSpPr>
              <p:spPr>
                <a:xfrm>
                  <a:off x="0" y="0"/>
                  <a:ext cx="236855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1390">
                      <a:moveTo>
                        <a:pt x="2000" y="0"/>
                      </a:moveTo>
                      <a:lnTo>
                        <a:pt x="3730" y="1000"/>
                      </a:lnTo>
                      <a:lnTo>
                        <a:pt x="2870" y="1390"/>
                      </a:lnTo>
                      <a:lnTo>
                        <a:pt x="2000" y="940"/>
                      </a:lnTo>
                      <a:lnTo>
                        <a:pt x="20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5" name="m-logo-onyx-mark-f1"/>
                <p:cNvSpPr/>
                <p:nvPr/>
              </p:nvSpPr>
              <p:spPr>
                <a:xfrm>
                  <a:off x="0" y="0"/>
                  <a:ext cx="2368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3000">
                      <a:moveTo>
                        <a:pt x="3730" y="1000"/>
                      </a:moveTo>
                      <a:lnTo>
                        <a:pt x="3730" y="3000"/>
                      </a:lnTo>
                      <a:lnTo>
                        <a:pt x="2870" y="2290"/>
                      </a:lnTo>
                      <a:lnTo>
                        <a:pt x="2870" y="1390"/>
                      </a:lnTo>
                      <a:lnTo>
                        <a:pt x="3730" y="100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6" name="m-logo-onyx-mark-f2"/>
                <p:cNvSpPr/>
                <p:nvPr/>
              </p:nvSpPr>
              <p:spPr>
                <a:xfrm>
                  <a:off x="0" y="0"/>
                  <a:ext cx="236855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4000">
                      <a:moveTo>
                        <a:pt x="3730" y="3000"/>
                      </a:moveTo>
                      <a:lnTo>
                        <a:pt x="2000" y="4000"/>
                      </a:lnTo>
                      <a:lnTo>
                        <a:pt x="2000" y="2740"/>
                      </a:lnTo>
                      <a:lnTo>
                        <a:pt x="2870" y="2290"/>
                      </a:lnTo>
                      <a:lnTo>
                        <a:pt x="3730" y="300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m-logo-onyx-mark-f3"/>
                <p:cNvSpPr/>
                <p:nvPr/>
              </p:nvSpPr>
              <p:spPr>
                <a:xfrm>
                  <a:off x="0" y="0"/>
                  <a:ext cx="127000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4000">
                      <a:moveTo>
                        <a:pt x="2000" y="4000"/>
                      </a:moveTo>
                      <a:lnTo>
                        <a:pt x="270" y="3000"/>
                      </a:lnTo>
                      <a:lnTo>
                        <a:pt x="1130" y="2290"/>
                      </a:lnTo>
                      <a:lnTo>
                        <a:pt x="2000" y="2740"/>
                      </a:lnTo>
                      <a:lnTo>
                        <a:pt x="2000" y="4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m-logo-onyx-mark-f4"/>
                <p:cNvSpPr/>
                <p:nvPr/>
              </p:nvSpPr>
              <p:spPr>
                <a:xfrm>
                  <a:off x="0" y="0"/>
                  <a:ext cx="717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30" h="3000">
                      <a:moveTo>
                        <a:pt x="270" y="3000"/>
                      </a:moveTo>
                      <a:lnTo>
                        <a:pt x="270" y="1000"/>
                      </a:lnTo>
                      <a:lnTo>
                        <a:pt x="1130" y="1390"/>
                      </a:lnTo>
                      <a:lnTo>
                        <a:pt x="1130" y="2290"/>
                      </a:lnTo>
                      <a:lnTo>
                        <a:pt x="270" y="300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m-logo-onyx-mark-f5"/>
                <p:cNvSpPr/>
                <p:nvPr/>
              </p:nvSpPr>
              <p:spPr>
                <a:xfrm>
                  <a:off x="0" y="0"/>
                  <a:ext cx="127000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1390">
                      <a:moveTo>
                        <a:pt x="270" y="1000"/>
                      </a:moveTo>
                      <a:lnTo>
                        <a:pt x="2000" y="0"/>
                      </a:lnTo>
                      <a:lnTo>
                        <a:pt x="2000" y="940"/>
                      </a:lnTo>
                      <a:lnTo>
                        <a:pt x="1130" y="1390"/>
                      </a:lnTo>
                      <a:lnTo>
                        <a:pt x="270" y="100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0" name="m-logo-onyx-mark-table"/>
                <p:cNvSpPr/>
                <p:nvPr/>
              </p:nvSpPr>
              <p:spPr>
                <a:xfrm>
                  <a:off x="0" y="0"/>
                  <a:ext cx="182245" cy="1739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70" h="2740">
                      <a:moveTo>
                        <a:pt x="2000" y="940"/>
                      </a:moveTo>
                      <a:lnTo>
                        <a:pt x="2870" y="1390"/>
                      </a:lnTo>
                      <a:lnTo>
                        <a:pt x="2870" y="2290"/>
                      </a:lnTo>
                      <a:lnTo>
                        <a:pt x="2000" y="2740"/>
                      </a:lnTo>
                      <a:lnTo>
                        <a:pt x="1130" y="2290"/>
                      </a:lnTo>
                      <a:lnTo>
                        <a:pt x="1130" y="1390"/>
                      </a:lnTo>
                      <a:lnTo>
                        <a:pt x="2000" y="94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2" name="m-logo-onyx-word"/>
              <p:cNvSpPr txBox="1"/>
              <p:nvPr/>
            </p:nvSpPr>
            <p:spPr>
              <a:xfrm>
                <a:off x="317500" y="42926"/>
                <a:ext cx="960438" cy="166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00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000" dirty="0"/>
              </a:p>
            </p:txBody>
          </p:sp>
        </p:grpSp>
      </p:grpSp>
      <p:sp>
        <p:nvSpPr>
          <p:cNvPr id="25" name="ar-kicker"/>
          <p:cNvSpPr txBox="1"/>
          <p:nvPr/>
        </p:nvSpPr>
        <p:spPr>
          <a:xfrm>
            <a:off x="889000" y="662178"/>
            <a:ext cx="1373188" cy="1760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HOW THEY FIT</a:t>
            </a:r>
            <a:endParaRPr lang="en-US" sz="1200" dirty="0"/>
          </a:p>
        </p:txBody>
      </p:sp>
      <p:sp>
        <p:nvSpPr>
          <p:cNvPr id="26" name="ar-title"/>
          <p:cNvSpPr>
            <a:spLocks noGrp="1"/>
          </p:cNvSpPr>
          <p:nvPr>
            <p:ph type="title"/>
          </p:nvPr>
        </p:nvSpPr>
        <p:spPr>
          <a:xfrm>
            <a:off x="889000" y="1149604"/>
            <a:ext cx="12334875" cy="4886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One endpoint. </a:t>
            </a:r>
            <a:r>
              <a:rPr lang="en-US" sz="40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One engine per model.</a:t>
            </a:r>
            <a:endParaRPr lang="en-US" sz="4000" dirty="0"/>
          </a:p>
        </p:txBody>
      </p:sp>
      <p:sp>
        <p:nvSpPr>
          <p:cNvPr id="27" name="ar-d-cl0"/>
          <p:cNvSpPr/>
          <p:nvPr/>
        </p:nvSpPr>
        <p:spPr>
          <a:xfrm>
            <a:off x="901700" y="2349500"/>
            <a:ext cx="20574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28" name="ar-d-cl0-t"/>
          <p:cNvSpPr txBox="1"/>
          <p:nvPr/>
        </p:nvSpPr>
        <p:spPr>
          <a:xfrm>
            <a:off x="1606550" y="2642870"/>
            <a:ext cx="879475" cy="227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10"/>
              </a:lnSpc>
              <a:buNone/>
            </a:pPr>
            <a:r>
              <a:rPr lang="en-US" sz="125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Your app</a:t>
            </a:r>
            <a:endParaRPr lang="en-US" sz="1250" dirty="0"/>
          </a:p>
        </p:txBody>
      </p:sp>
      <p:sp>
        <p:nvSpPr>
          <p:cNvPr id="29" name="ar-d-cl1"/>
          <p:cNvSpPr/>
          <p:nvPr/>
        </p:nvSpPr>
        <p:spPr>
          <a:xfrm>
            <a:off x="901700" y="3498850"/>
            <a:ext cx="20574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0" name="ar-d-cl1-t"/>
          <p:cNvSpPr txBox="1"/>
          <p:nvPr/>
        </p:nvSpPr>
        <p:spPr>
          <a:xfrm>
            <a:off x="1466850" y="3794125"/>
            <a:ext cx="1158875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10"/>
              </a:lnSpc>
              <a:buNone/>
            </a:pPr>
            <a:r>
              <a:rPr lang="en-US" sz="125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OpenAI SDK</a:t>
            </a:r>
            <a:endParaRPr lang="en-US" sz="1250" dirty="0"/>
          </a:p>
        </p:txBody>
      </p:sp>
      <p:sp>
        <p:nvSpPr>
          <p:cNvPr id="31" name="ar-d-cl2"/>
          <p:cNvSpPr/>
          <p:nvPr/>
        </p:nvSpPr>
        <p:spPr>
          <a:xfrm>
            <a:off x="901700" y="4648200"/>
            <a:ext cx="20574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2" name="ar-d-cl2-t"/>
          <p:cNvSpPr txBox="1"/>
          <p:nvPr/>
        </p:nvSpPr>
        <p:spPr>
          <a:xfrm>
            <a:off x="1441450" y="4947444"/>
            <a:ext cx="1214438" cy="2278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10"/>
              </a:lnSpc>
              <a:buNone/>
            </a:pPr>
            <a:r>
              <a:rPr lang="en-US" sz="125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Paired phone</a:t>
            </a:r>
            <a:endParaRPr lang="en-US" sz="1250" dirty="0"/>
          </a:p>
        </p:txBody>
      </p:sp>
      <p:sp>
        <p:nvSpPr>
          <p:cNvPr id="33" name="ar-d-jx"/>
          <p:cNvSpPr/>
          <p:nvPr/>
        </p:nvSpPr>
        <p:spPr>
          <a:xfrm>
            <a:off x="3930650" y="2355850"/>
            <a:ext cx="3708400" cy="3263900"/>
          </a:xfrm>
          <a:prstGeom prst="roundRect">
            <a:avLst>
              <a:gd name="adj" fmla="val 4572"/>
            </a:avLst>
          </a:prstGeom>
          <a:solidFill>
            <a:srgbClr val="151619"/>
          </a:solidFill>
          <a:ln w="19050">
            <a:solidFill>
              <a:srgbClr val="FF2D55"/>
            </a:solidFill>
          </a:ln>
        </p:spPr>
      </p:sp>
      <p:sp>
        <p:nvSpPr>
          <p:cNvPr id="34" name="ar-d-jx-k"/>
          <p:cNvSpPr txBox="1"/>
          <p:nvPr/>
        </p:nvSpPr>
        <p:spPr>
          <a:xfrm>
            <a:off x="4102100" y="2480939"/>
            <a:ext cx="1539875" cy="128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254"/>
              </a:lnSpc>
              <a:buNone/>
            </a:pPr>
            <a:r>
              <a:rPr lang="en-US" sz="95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JX RUNTIME  :8712</a:t>
            </a:r>
            <a:endParaRPr lang="en-US" sz="950" dirty="0"/>
          </a:p>
        </p:txBody>
      </p:sp>
      <p:sp>
        <p:nvSpPr>
          <p:cNvPr id="35" name="ar-d-jl0"/>
          <p:cNvSpPr/>
          <p:nvPr/>
        </p:nvSpPr>
        <p:spPr>
          <a:xfrm>
            <a:off x="4089400" y="2838450"/>
            <a:ext cx="3397250" cy="4445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 w="6350">
            <a:solidFill>
              <a:srgbClr val="2C2D33"/>
            </a:solidFill>
          </a:ln>
        </p:spPr>
      </p:sp>
      <p:sp>
        <p:nvSpPr>
          <p:cNvPr id="36" name="ar-d-jl0-t"/>
          <p:cNvSpPr txBox="1"/>
          <p:nvPr/>
        </p:nvSpPr>
        <p:spPr>
          <a:xfrm>
            <a:off x="4222750" y="2917412"/>
            <a:ext cx="1793875" cy="1877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1"/>
              </a:lnSpc>
              <a:buNone/>
            </a:pPr>
            <a:r>
              <a:rPr lang="en-US" sz="115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Scoped keys &amp; pairing</a:t>
            </a:r>
            <a:endParaRPr lang="en-US" sz="1150" dirty="0"/>
          </a:p>
        </p:txBody>
      </p:sp>
      <p:sp>
        <p:nvSpPr>
          <p:cNvPr id="37" name="ar-d-jl1"/>
          <p:cNvSpPr/>
          <p:nvPr/>
        </p:nvSpPr>
        <p:spPr>
          <a:xfrm>
            <a:off x="4089400" y="3378200"/>
            <a:ext cx="3397250" cy="4445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 w="6350">
            <a:solidFill>
              <a:srgbClr val="2C2D33"/>
            </a:solidFill>
          </a:ln>
        </p:spPr>
      </p:sp>
      <p:sp>
        <p:nvSpPr>
          <p:cNvPr id="38" name="ar-d-jl1-t"/>
          <p:cNvSpPr txBox="1"/>
          <p:nvPr/>
        </p:nvSpPr>
        <p:spPr>
          <a:xfrm>
            <a:off x="4222750" y="3457162"/>
            <a:ext cx="1770062" cy="1877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1"/>
              </a:lnSpc>
              <a:buNone/>
            </a:pPr>
            <a:r>
              <a:rPr lang="en-US" sz="115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TLS · network posture</a:t>
            </a:r>
            <a:endParaRPr lang="en-US" sz="1150" dirty="0"/>
          </a:p>
        </p:txBody>
      </p:sp>
      <p:sp>
        <p:nvSpPr>
          <p:cNvPr id="39" name="ar-d-jl2"/>
          <p:cNvSpPr/>
          <p:nvPr/>
        </p:nvSpPr>
        <p:spPr>
          <a:xfrm>
            <a:off x="4089400" y="3917950"/>
            <a:ext cx="3397250" cy="4445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 w="6350">
            <a:solidFill>
              <a:srgbClr val="2C2D33"/>
            </a:solidFill>
          </a:ln>
        </p:spPr>
      </p:sp>
      <p:sp>
        <p:nvSpPr>
          <p:cNvPr id="40" name="ar-d-jl2-t"/>
          <p:cNvSpPr txBox="1"/>
          <p:nvPr/>
        </p:nvSpPr>
        <p:spPr>
          <a:xfrm>
            <a:off x="4222750" y="3996912"/>
            <a:ext cx="1674812" cy="1877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1"/>
              </a:lnSpc>
              <a:buNone/>
            </a:pPr>
            <a:r>
              <a:rPr lang="en-US" sz="115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Rate limits · audit log</a:t>
            </a:r>
            <a:endParaRPr lang="en-US" sz="1150" dirty="0"/>
          </a:p>
        </p:txBody>
      </p:sp>
      <p:sp>
        <p:nvSpPr>
          <p:cNvPr id="41" name="ar-d-jl3"/>
          <p:cNvSpPr/>
          <p:nvPr/>
        </p:nvSpPr>
        <p:spPr>
          <a:xfrm>
            <a:off x="4089400" y="4457700"/>
            <a:ext cx="3397250" cy="4445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 w="6350">
            <a:solidFill>
              <a:srgbClr val="2C2D33"/>
            </a:solidFill>
          </a:ln>
        </p:spPr>
      </p:sp>
      <p:sp>
        <p:nvSpPr>
          <p:cNvPr id="42" name="ar-d-jl3-t"/>
          <p:cNvSpPr txBox="1"/>
          <p:nvPr/>
        </p:nvSpPr>
        <p:spPr>
          <a:xfrm>
            <a:off x="4222750" y="4537831"/>
            <a:ext cx="1785938" cy="1865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1"/>
              </a:lnSpc>
              <a:buNone/>
            </a:pPr>
            <a:r>
              <a:rPr lang="en-US" sz="115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Fit check · Auto config</a:t>
            </a:r>
            <a:endParaRPr lang="en-US" sz="1150" dirty="0"/>
          </a:p>
        </p:txBody>
      </p:sp>
      <p:sp>
        <p:nvSpPr>
          <p:cNvPr id="43" name="ar-d-jl4"/>
          <p:cNvSpPr/>
          <p:nvPr/>
        </p:nvSpPr>
        <p:spPr>
          <a:xfrm>
            <a:off x="4089400" y="4997450"/>
            <a:ext cx="3397250" cy="444500"/>
          </a:xfrm>
          <a:prstGeom prst="roundRect">
            <a:avLst>
              <a:gd name="adj" fmla="val 15000"/>
            </a:avLst>
          </a:prstGeom>
          <a:solidFill>
            <a:srgbClr val="09090B"/>
          </a:solidFill>
          <a:ln w="6350">
            <a:solidFill>
              <a:srgbClr val="2C2D33"/>
            </a:solidFill>
          </a:ln>
        </p:spPr>
      </p:sp>
      <p:sp>
        <p:nvSpPr>
          <p:cNvPr id="44" name="ar-d-jl4-t"/>
          <p:cNvSpPr txBox="1"/>
          <p:nvPr/>
        </p:nvSpPr>
        <p:spPr>
          <a:xfrm>
            <a:off x="4222750" y="5078165"/>
            <a:ext cx="1912938" cy="185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01"/>
              </a:lnSpc>
              <a:buNone/>
            </a:pPr>
            <a:r>
              <a:rPr lang="en-US" sz="115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Spawn · /health · restart</a:t>
            </a:r>
            <a:endParaRPr lang="en-US" sz="1150" dirty="0"/>
          </a:p>
        </p:txBody>
      </p:sp>
      <p:sp>
        <p:nvSpPr>
          <p:cNvPr id="45" name="ar-d-ox0"/>
          <p:cNvSpPr/>
          <p:nvPr/>
        </p:nvSpPr>
        <p:spPr>
          <a:xfrm>
            <a:off x="8610600" y="2349500"/>
            <a:ext cx="26797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DD4BF"/>
            </a:solidFill>
          </a:ln>
        </p:spPr>
      </p:sp>
      <p:sp>
        <p:nvSpPr>
          <p:cNvPr id="46" name="ar-d-ox0-t"/>
          <p:cNvSpPr txBox="1"/>
          <p:nvPr/>
        </p:nvSpPr>
        <p:spPr>
          <a:xfrm>
            <a:off x="9080500" y="2586038"/>
            <a:ext cx="1214438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95"/>
              </a:lnSpc>
              <a:buNone/>
            </a:pPr>
            <a:r>
              <a:rPr lang="en-US" sz="125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onyx-engine</a:t>
            </a:r>
            <a:endParaRPr lang="en-US" sz="1250" dirty="0"/>
          </a:p>
        </p:txBody>
      </p:sp>
      <p:sp>
        <p:nvSpPr>
          <p:cNvPr id="47" name="ar-d-ox0-s"/>
          <p:cNvSpPr txBox="1"/>
          <p:nvPr/>
        </p:nvSpPr>
        <p:spPr>
          <a:xfrm>
            <a:off x="9080500" y="2848102"/>
            <a:ext cx="1452562" cy="1046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buNone/>
            </a:pPr>
            <a:r>
              <a:rPr lang="en-US" sz="8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model A · 127.0.0.1</a:t>
            </a:r>
            <a:endParaRPr lang="en-US" sz="800" dirty="0"/>
          </a:p>
        </p:txBody>
      </p:sp>
      <p:sp>
        <p:nvSpPr>
          <p:cNvPr id="48" name="ar-d-ox1"/>
          <p:cNvSpPr/>
          <p:nvPr/>
        </p:nvSpPr>
        <p:spPr>
          <a:xfrm>
            <a:off x="8610600" y="3498850"/>
            <a:ext cx="26797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DD4BF"/>
            </a:solidFill>
          </a:ln>
        </p:spPr>
      </p:sp>
      <p:sp>
        <p:nvSpPr>
          <p:cNvPr id="49" name="ar-d-ox1-t"/>
          <p:cNvSpPr txBox="1"/>
          <p:nvPr/>
        </p:nvSpPr>
        <p:spPr>
          <a:xfrm>
            <a:off x="9080500" y="3735388"/>
            <a:ext cx="1214438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95"/>
              </a:lnSpc>
              <a:buNone/>
            </a:pPr>
            <a:r>
              <a:rPr lang="en-US" sz="125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onyx-engine</a:t>
            </a:r>
            <a:endParaRPr lang="en-US" sz="1250" dirty="0"/>
          </a:p>
        </p:txBody>
      </p:sp>
      <p:sp>
        <p:nvSpPr>
          <p:cNvPr id="50" name="ar-d-ox1-s"/>
          <p:cNvSpPr txBox="1"/>
          <p:nvPr/>
        </p:nvSpPr>
        <p:spPr>
          <a:xfrm>
            <a:off x="9080500" y="3997452"/>
            <a:ext cx="1452562" cy="1046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buNone/>
            </a:pPr>
            <a:r>
              <a:rPr lang="en-US" sz="8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model B · 127.0.0.1</a:t>
            </a:r>
            <a:endParaRPr lang="en-US" sz="800" dirty="0"/>
          </a:p>
        </p:txBody>
      </p:sp>
      <p:sp>
        <p:nvSpPr>
          <p:cNvPr id="51" name="ar-d-ox2"/>
          <p:cNvSpPr/>
          <p:nvPr/>
        </p:nvSpPr>
        <p:spPr>
          <a:xfrm>
            <a:off x="8610600" y="4648200"/>
            <a:ext cx="2679700" cy="977900"/>
          </a:xfrm>
          <a:prstGeom prst="roundRect">
            <a:avLst>
              <a:gd name="adj" fmla="val 10390"/>
            </a:avLst>
          </a:prstGeom>
          <a:solidFill>
            <a:srgbClr val="151619"/>
          </a:solidFill>
          <a:ln w="12700">
            <a:solidFill>
              <a:srgbClr val="2DD4BF"/>
            </a:solidFill>
          </a:ln>
        </p:spPr>
      </p:sp>
      <p:sp>
        <p:nvSpPr>
          <p:cNvPr id="52" name="ar-d-ox2-t"/>
          <p:cNvSpPr txBox="1"/>
          <p:nvPr/>
        </p:nvSpPr>
        <p:spPr>
          <a:xfrm>
            <a:off x="9080500" y="4884738"/>
            <a:ext cx="1214438" cy="214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95"/>
              </a:lnSpc>
              <a:buNone/>
            </a:pPr>
            <a:r>
              <a:rPr lang="en-US" sz="1250" b="1" dirty="0">
                <a:solidFill>
                  <a:srgbClr val="E6F2F1"/>
                </a:solidFill>
                <a:latin typeface="Space Grotesk"/>
                <a:ea typeface="Space Grotesk"/>
                <a:cs typeface="Space Grotesk"/>
              </a:rPr>
              <a:t>onyx-engine</a:t>
            </a:r>
            <a:endParaRPr lang="en-US" sz="1250" dirty="0"/>
          </a:p>
        </p:txBody>
      </p:sp>
      <p:sp>
        <p:nvSpPr>
          <p:cNvPr id="53" name="ar-d-ox2-s"/>
          <p:cNvSpPr txBox="1"/>
          <p:nvPr/>
        </p:nvSpPr>
        <p:spPr>
          <a:xfrm>
            <a:off x="9080500" y="5151069"/>
            <a:ext cx="1682750" cy="1257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buNone/>
            </a:pPr>
            <a:r>
              <a:rPr lang="en-US" sz="800" dirty="0">
                <a:solidFill>
                  <a:srgbClr val="9AAEB2"/>
                </a:solidFill>
                <a:latin typeface="JetBrains Mono"/>
                <a:ea typeface="JetBrains Mono"/>
                <a:cs typeface="JetBrains Mono"/>
              </a:rPr>
              <a:t>embeddings · 127.0.0.1</a:t>
            </a:r>
            <a:endParaRPr lang="en-US" sz="800" dirty="0"/>
          </a:p>
        </p:txBody>
      </p:sp>
      <p:grpSp>
        <p:nvGrpSpPr>
          <p:cNvPr id="61" name="ar-d-oxm0"/>
          <p:cNvGrpSpPr/>
          <p:nvPr/>
        </p:nvGrpSpPr>
        <p:grpSpPr>
          <a:xfrm>
            <a:off x="8718550" y="2692400"/>
            <a:ext cx="272415" cy="292100"/>
            <a:chOff x="0" y="0"/>
            <a:chExt cx="272415" cy="292100"/>
          </a:xfrm>
        </p:grpSpPr>
        <p:sp>
          <p:nvSpPr>
            <p:cNvPr id="54" name="ar-d-oxm0-f0"/>
            <p:cNvSpPr/>
            <p:nvPr/>
          </p:nvSpPr>
          <p:spPr>
            <a:xfrm>
              <a:off x="0" y="0"/>
              <a:ext cx="272415" cy="101600"/>
            </a:xfrm>
            <a:custGeom>
              <a:avLst/>
              <a:gdLst/>
              <a:ahLst/>
              <a:cxnLst/>
              <a:rect l="0" t="0" r="r" b="b"/>
              <a:pathLst>
                <a:path w="4290" h="1600">
                  <a:moveTo>
                    <a:pt x="2300" y="0"/>
                  </a:moveTo>
                  <a:lnTo>
                    <a:pt x="4290" y="1150"/>
                  </a:lnTo>
                  <a:lnTo>
                    <a:pt x="3300" y="1600"/>
                  </a:lnTo>
                  <a:lnTo>
                    <a:pt x="2300" y="1080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1D4A47"/>
            </a:solidFill>
            <a:ln w="6350">
              <a:solidFill>
                <a:srgbClr val="2DD4BF"/>
              </a:solidFill>
            </a:ln>
          </p:spPr>
        </p:sp>
        <p:sp>
          <p:nvSpPr>
            <p:cNvPr id="55" name="ar-d-oxm0-f1"/>
            <p:cNvSpPr/>
            <p:nvPr/>
          </p:nvSpPr>
          <p:spPr>
            <a:xfrm>
              <a:off x="0" y="0"/>
              <a:ext cx="272415" cy="219075"/>
            </a:xfrm>
            <a:custGeom>
              <a:avLst/>
              <a:gdLst/>
              <a:ahLst/>
              <a:cxnLst/>
              <a:rect l="0" t="0" r="r" b="b"/>
              <a:pathLst>
                <a:path w="4290" h="3450">
                  <a:moveTo>
                    <a:pt x="4290" y="1150"/>
                  </a:moveTo>
                  <a:lnTo>
                    <a:pt x="4290" y="3450"/>
                  </a:lnTo>
                  <a:lnTo>
                    <a:pt x="3300" y="2630"/>
                  </a:lnTo>
                  <a:lnTo>
                    <a:pt x="3300" y="1600"/>
                  </a:lnTo>
                  <a:lnTo>
                    <a:pt x="4290" y="1150"/>
                  </a:lnTo>
                  <a:close/>
                </a:path>
              </a:pathLst>
            </a:custGeom>
            <a:solidFill>
              <a:srgbClr val="16262B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56" name="ar-d-oxm0-f2"/>
            <p:cNvSpPr/>
            <p:nvPr/>
          </p:nvSpPr>
          <p:spPr>
            <a:xfrm>
              <a:off x="0" y="0"/>
              <a:ext cx="272415" cy="292100"/>
            </a:xfrm>
            <a:custGeom>
              <a:avLst/>
              <a:gdLst/>
              <a:ahLst/>
              <a:cxnLst/>
              <a:rect l="0" t="0" r="r" b="b"/>
              <a:pathLst>
                <a:path w="4290" h="4600">
                  <a:moveTo>
                    <a:pt x="4290" y="3450"/>
                  </a:moveTo>
                  <a:lnTo>
                    <a:pt x="2300" y="4600"/>
                  </a:lnTo>
                  <a:lnTo>
                    <a:pt x="2300" y="3150"/>
                  </a:lnTo>
                  <a:lnTo>
                    <a:pt x="3300" y="2630"/>
                  </a:lnTo>
                  <a:lnTo>
                    <a:pt x="4290" y="3450"/>
                  </a:lnTo>
                  <a:close/>
                </a:path>
              </a:pathLst>
            </a:custGeom>
            <a:solidFill>
              <a:srgbClr val="0E1518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57" name="ar-d-oxm0-f3"/>
            <p:cNvSpPr/>
            <p:nvPr/>
          </p:nvSpPr>
          <p:spPr>
            <a:xfrm>
              <a:off x="0" y="0"/>
              <a:ext cx="146050" cy="292100"/>
            </a:xfrm>
            <a:custGeom>
              <a:avLst/>
              <a:gdLst/>
              <a:ahLst/>
              <a:cxnLst/>
              <a:rect l="0" t="0" r="r" b="b"/>
              <a:pathLst>
                <a:path w="2300" h="4600">
                  <a:moveTo>
                    <a:pt x="2300" y="4600"/>
                  </a:moveTo>
                  <a:lnTo>
                    <a:pt x="310" y="3450"/>
                  </a:lnTo>
                  <a:lnTo>
                    <a:pt x="1300" y="2630"/>
                  </a:lnTo>
                  <a:lnTo>
                    <a:pt x="2300" y="3150"/>
                  </a:lnTo>
                  <a:lnTo>
                    <a:pt x="2300" y="4600"/>
                  </a:lnTo>
                  <a:close/>
                </a:path>
              </a:pathLst>
            </a:custGeom>
            <a:solidFill>
              <a:srgbClr val="070B0D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58" name="ar-d-oxm0-f4"/>
            <p:cNvSpPr/>
            <p:nvPr/>
          </p:nvSpPr>
          <p:spPr>
            <a:xfrm>
              <a:off x="0" y="0"/>
              <a:ext cx="82550" cy="219075"/>
            </a:xfrm>
            <a:custGeom>
              <a:avLst/>
              <a:gdLst/>
              <a:ahLst/>
              <a:cxnLst/>
              <a:rect l="0" t="0" r="r" b="b"/>
              <a:pathLst>
                <a:path w="1300" h="3450">
                  <a:moveTo>
                    <a:pt x="310" y="3450"/>
                  </a:moveTo>
                  <a:lnTo>
                    <a:pt x="310" y="1150"/>
                  </a:lnTo>
                  <a:lnTo>
                    <a:pt x="1300" y="1600"/>
                  </a:lnTo>
                  <a:lnTo>
                    <a:pt x="1300" y="2630"/>
                  </a:lnTo>
                  <a:lnTo>
                    <a:pt x="310" y="3450"/>
                  </a:lnTo>
                  <a:close/>
                </a:path>
              </a:pathLst>
            </a:custGeom>
            <a:solidFill>
              <a:srgbClr val="0B1114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59" name="ar-d-oxm0-f5"/>
            <p:cNvSpPr/>
            <p:nvPr/>
          </p:nvSpPr>
          <p:spPr>
            <a:xfrm>
              <a:off x="0" y="0"/>
              <a:ext cx="146050" cy="101600"/>
            </a:xfrm>
            <a:custGeom>
              <a:avLst/>
              <a:gdLst/>
              <a:ahLst/>
              <a:cxnLst/>
              <a:rect l="0" t="0" r="r" b="b"/>
              <a:pathLst>
                <a:path w="2300" h="1600">
                  <a:moveTo>
                    <a:pt x="310" y="1150"/>
                  </a:moveTo>
                  <a:lnTo>
                    <a:pt x="2300" y="0"/>
                  </a:lnTo>
                  <a:lnTo>
                    <a:pt x="2300" y="1080"/>
                  </a:lnTo>
                  <a:lnTo>
                    <a:pt x="1300" y="1600"/>
                  </a:lnTo>
                  <a:lnTo>
                    <a:pt x="310" y="1150"/>
                  </a:lnTo>
                  <a:close/>
                </a:path>
              </a:pathLst>
            </a:custGeom>
            <a:solidFill>
              <a:srgbClr val="1A2E33"/>
            </a:solidFill>
            <a:ln w="6350">
              <a:solidFill>
                <a:srgbClr val="2DD4BF"/>
              </a:solidFill>
            </a:ln>
          </p:spPr>
        </p:sp>
        <p:sp>
          <p:nvSpPr>
            <p:cNvPr id="60" name="ar-d-oxm0-table"/>
            <p:cNvSpPr/>
            <p:nvPr/>
          </p:nvSpPr>
          <p:spPr>
            <a:xfrm>
              <a:off x="0" y="0"/>
              <a:ext cx="209550" cy="200025"/>
            </a:xfrm>
            <a:custGeom>
              <a:avLst/>
              <a:gdLst/>
              <a:ahLst/>
              <a:cxnLst/>
              <a:rect l="0" t="0" r="r" b="b"/>
              <a:pathLst>
                <a:path w="3300" h="3150">
                  <a:moveTo>
                    <a:pt x="2300" y="1080"/>
                  </a:moveTo>
                  <a:lnTo>
                    <a:pt x="3300" y="1600"/>
                  </a:lnTo>
                  <a:lnTo>
                    <a:pt x="3300" y="2630"/>
                  </a:lnTo>
                  <a:lnTo>
                    <a:pt x="2300" y="3150"/>
                  </a:lnTo>
                  <a:lnTo>
                    <a:pt x="1300" y="2630"/>
                  </a:lnTo>
                  <a:lnTo>
                    <a:pt x="1300" y="1600"/>
                  </a:lnTo>
                  <a:lnTo>
                    <a:pt x="2300" y="1080"/>
                  </a:lnTo>
                  <a:close/>
                </a:path>
              </a:pathLst>
            </a:custGeom>
            <a:solidFill>
              <a:srgbClr val="0A1013"/>
            </a:solidFill>
            <a:ln w="6350">
              <a:solidFill>
                <a:srgbClr val="99F6E4"/>
              </a:solidFill>
            </a:ln>
          </p:spPr>
        </p:sp>
      </p:grpSp>
      <p:sp>
        <p:nvSpPr>
          <p:cNvPr id="62" name="ar-d-a0"/>
          <p:cNvSpPr/>
          <p:nvPr/>
        </p:nvSpPr>
        <p:spPr>
          <a:xfrm>
            <a:off x="3022600" y="278130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FF2D55"/>
          </a:solidFill>
          <a:ln>
            <a:noFill/>
          </a:ln>
        </p:spPr>
      </p:sp>
      <p:sp>
        <p:nvSpPr>
          <p:cNvPr id="63" name="ar-d-b0"/>
          <p:cNvSpPr/>
          <p:nvPr/>
        </p:nvSpPr>
        <p:spPr>
          <a:xfrm>
            <a:off x="7708900" y="278130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grpSp>
        <p:nvGrpSpPr>
          <p:cNvPr id="71" name="ar-d-oxm1"/>
          <p:cNvGrpSpPr/>
          <p:nvPr/>
        </p:nvGrpSpPr>
        <p:grpSpPr>
          <a:xfrm>
            <a:off x="8718550" y="3841750"/>
            <a:ext cx="272415" cy="292100"/>
            <a:chOff x="0" y="0"/>
            <a:chExt cx="272415" cy="292100"/>
          </a:xfrm>
        </p:grpSpPr>
        <p:sp>
          <p:nvSpPr>
            <p:cNvPr id="64" name="ar-d-oxm1-f0"/>
            <p:cNvSpPr/>
            <p:nvPr/>
          </p:nvSpPr>
          <p:spPr>
            <a:xfrm>
              <a:off x="0" y="0"/>
              <a:ext cx="272415" cy="101600"/>
            </a:xfrm>
            <a:custGeom>
              <a:avLst/>
              <a:gdLst/>
              <a:ahLst/>
              <a:cxnLst/>
              <a:rect l="0" t="0" r="r" b="b"/>
              <a:pathLst>
                <a:path w="4290" h="1600">
                  <a:moveTo>
                    <a:pt x="2300" y="0"/>
                  </a:moveTo>
                  <a:lnTo>
                    <a:pt x="4290" y="1150"/>
                  </a:lnTo>
                  <a:lnTo>
                    <a:pt x="3300" y="1600"/>
                  </a:lnTo>
                  <a:lnTo>
                    <a:pt x="2300" y="1080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1D4A47"/>
            </a:solidFill>
            <a:ln w="6350">
              <a:solidFill>
                <a:srgbClr val="2DD4BF"/>
              </a:solidFill>
            </a:ln>
          </p:spPr>
        </p:sp>
        <p:sp>
          <p:nvSpPr>
            <p:cNvPr id="65" name="ar-d-oxm1-f1"/>
            <p:cNvSpPr/>
            <p:nvPr/>
          </p:nvSpPr>
          <p:spPr>
            <a:xfrm>
              <a:off x="0" y="0"/>
              <a:ext cx="272415" cy="219075"/>
            </a:xfrm>
            <a:custGeom>
              <a:avLst/>
              <a:gdLst/>
              <a:ahLst/>
              <a:cxnLst/>
              <a:rect l="0" t="0" r="r" b="b"/>
              <a:pathLst>
                <a:path w="4290" h="3450">
                  <a:moveTo>
                    <a:pt x="4290" y="1150"/>
                  </a:moveTo>
                  <a:lnTo>
                    <a:pt x="4290" y="3450"/>
                  </a:lnTo>
                  <a:lnTo>
                    <a:pt x="3300" y="2630"/>
                  </a:lnTo>
                  <a:lnTo>
                    <a:pt x="3300" y="1600"/>
                  </a:lnTo>
                  <a:lnTo>
                    <a:pt x="4290" y="1150"/>
                  </a:lnTo>
                  <a:close/>
                </a:path>
              </a:pathLst>
            </a:custGeom>
            <a:solidFill>
              <a:srgbClr val="16262B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6" name="ar-d-oxm1-f2"/>
            <p:cNvSpPr/>
            <p:nvPr/>
          </p:nvSpPr>
          <p:spPr>
            <a:xfrm>
              <a:off x="0" y="0"/>
              <a:ext cx="272415" cy="292100"/>
            </a:xfrm>
            <a:custGeom>
              <a:avLst/>
              <a:gdLst/>
              <a:ahLst/>
              <a:cxnLst/>
              <a:rect l="0" t="0" r="r" b="b"/>
              <a:pathLst>
                <a:path w="4290" h="4600">
                  <a:moveTo>
                    <a:pt x="4290" y="3450"/>
                  </a:moveTo>
                  <a:lnTo>
                    <a:pt x="2300" y="4600"/>
                  </a:lnTo>
                  <a:lnTo>
                    <a:pt x="2300" y="3150"/>
                  </a:lnTo>
                  <a:lnTo>
                    <a:pt x="3300" y="2630"/>
                  </a:lnTo>
                  <a:lnTo>
                    <a:pt x="4290" y="3450"/>
                  </a:lnTo>
                  <a:close/>
                </a:path>
              </a:pathLst>
            </a:custGeom>
            <a:solidFill>
              <a:srgbClr val="0E1518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7" name="ar-d-oxm1-f3"/>
            <p:cNvSpPr/>
            <p:nvPr/>
          </p:nvSpPr>
          <p:spPr>
            <a:xfrm>
              <a:off x="0" y="0"/>
              <a:ext cx="146050" cy="292100"/>
            </a:xfrm>
            <a:custGeom>
              <a:avLst/>
              <a:gdLst/>
              <a:ahLst/>
              <a:cxnLst/>
              <a:rect l="0" t="0" r="r" b="b"/>
              <a:pathLst>
                <a:path w="2300" h="4600">
                  <a:moveTo>
                    <a:pt x="2300" y="4600"/>
                  </a:moveTo>
                  <a:lnTo>
                    <a:pt x="310" y="3450"/>
                  </a:lnTo>
                  <a:lnTo>
                    <a:pt x="1300" y="2630"/>
                  </a:lnTo>
                  <a:lnTo>
                    <a:pt x="2300" y="3150"/>
                  </a:lnTo>
                  <a:lnTo>
                    <a:pt x="2300" y="4600"/>
                  </a:lnTo>
                  <a:close/>
                </a:path>
              </a:pathLst>
            </a:custGeom>
            <a:solidFill>
              <a:srgbClr val="070B0D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8" name="ar-d-oxm1-f4"/>
            <p:cNvSpPr/>
            <p:nvPr/>
          </p:nvSpPr>
          <p:spPr>
            <a:xfrm>
              <a:off x="0" y="0"/>
              <a:ext cx="82550" cy="219075"/>
            </a:xfrm>
            <a:custGeom>
              <a:avLst/>
              <a:gdLst/>
              <a:ahLst/>
              <a:cxnLst/>
              <a:rect l="0" t="0" r="r" b="b"/>
              <a:pathLst>
                <a:path w="1300" h="3450">
                  <a:moveTo>
                    <a:pt x="310" y="3450"/>
                  </a:moveTo>
                  <a:lnTo>
                    <a:pt x="310" y="1150"/>
                  </a:lnTo>
                  <a:lnTo>
                    <a:pt x="1300" y="1600"/>
                  </a:lnTo>
                  <a:lnTo>
                    <a:pt x="1300" y="2630"/>
                  </a:lnTo>
                  <a:lnTo>
                    <a:pt x="310" y="3450"/>
                  </a:lnTo>
                  <a:close/>
                </a:path>
              </a:pathLst>
            </a:custGeom>
            <a:solidFill>
              <a:srgbClr val="0B1114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69" name="ar-d-oxm1-f5"/>
            <p:cNvSpPr/>
            <p:nvPr/>
          </p:nvSpPr>
          <p:spPr>
            <a:xfrm>
              <a:off x="0" y="0"/>
              <a:ext cx="146050" cy="101600"/>
            </a:xfrm>
            <a:custGeom>
              <a:avLst/>
              <a:gdLst/>
              <a:ahLst/>
              <a:cxnLst/>
              <a:rect l="0" t="0" r="r" b="b"/>
              <a:pathLst>
                <a:path w="2300" h="1600">
                  <a:moveTo>
                    <a:pt x="310" y="1150"/>
                  </a:moveTo>
                  <a:lnTo>
                    <a:pt x="2300" y="0"/>
                  </a:lnTo>
                  <a:lnTo>
                    <a:pt x="2300" y="1080"/>
                  </a:lnTo>
                  <a:lnTo>
                    <a:pt x="1300" y="1600"/>
                  </a:lnTo>
                  <a:lnTo>
                    <a:pt x="310" y="1150"/>
                  </a:lnTo>
                  <a:close/>
                </a:path>
              </a:pathLst>
            </a:custGeom>
            <a:solidFill>
              <a:srgbClr val="1A2E33"/>
            </a:solidFill>
            <a:ln w="6350">
              <a:solidFill>
                <a:srgbClr val="2DD4BF"/>
              </a:solidFill>
            </a:ln>
          </p:spPr>
        </p:sp>
        <p:sp>
          <p:nvSpPr>
            <p:cNvPr id="70" name="ar-d-oxm1-table"/>
            <p:cNvSpPr/>
            <p:nvPr/>
          </p:nvSpPr>
          <p:spPr>
            <a:xfrm>
              <a:off x="0" y="0"/>
              <a:ext cx="209550" cy="200025"/>
            </a:xfrm>
            <a:custGeom>
              <a:avLst/>
              <a:gdLst/>
              <a:ahLst/>
              <a:cxnLst/>
              <a:rect l="0" t="0" r="r" b="b"/>
              <a:pathLst>
                <a:path w="3300" h="3150">
                  <a:moveTo>
                    <a:pt x="2300" y="1080"/>
                  </a:moveTo>
                  <a:lnTo>
                    <a:pt x="3300" y="1600"/>
                  </a:lnTo>
                  <a:lnTo>
                    <a:pt x="3300" y="2630"/>
                  </a:lnTo>
                  <a:lnTo>
                    <a:pt x="2300" y="3150"/>
                  </a:lnTo>
                  <a:lnTo>
                    <a:pt x="1300" y="2630"/>
                  </a:lnTo>
                  <a:lnTo>
                    <a:pt x="1300" y="1600"/>
                  </a:lnTo>
                  <a:lnTo>
                    <a:pt x="2300" y="1080"/>
                  </a:lnTo>
                  <a:close/>
                </a:path>
              </a:pathLst>
            </a:custGeom>
            <a:solidFill>
              <a:srgbClr val="0A1013"/>
            </a:solidFill>
            <a:ln w="6350">
              <a:solidFill>
                <a:srgbClr val="99F6E4"/>
              </a:solidFill>
            </a:ln>
          </p:spPr>
        </p:sp>
      </p:grpSp>
      <p:sp>
        <p:nvSpPr>
          <p:cNvPr id="72" name="ar-d-a1"/>
          <p:cNvSpPr/>
          <p:nvPr/>
        </p:nvSpPr>
        <p:spPr>
          <a:xfrm>
            <a:off x="3022600" y="393065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FF2D55"/>
          </a:solidFill>
          <a:ln>
            <a:noFill/>
          </a:ln>
        </p:spPr>
      </p:sp>
      <p:sp>
        <p:nvSpPr>
          <p:cNvPr id="73" name="ar-d-b1"/>
          <p:cNvSpPr/>
          <p:nvPr/>
        </p:nvSpPr>
        <p:spPr>
          <a:xfrm>
            <a:off x="7708900" y="393065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grpSp>
        <p:nvGrpSpPr>
          <p:cNvPr id="81" name="ar-d-oxm2"/>
          <p:cNvGrpSpPr/>
          <p:nvPr/>
        </p:nvGrpSpPr>
        <p:grpSpPr>
          <a:xfrm>
            <a:off x="8718550" y="4991100"/>
            <a:ext cx="272415" cy="292100"/>
            <a:chOff x="0" y="0"/>
            <a:chExt cx="272415" cy="292100"/>
          </a:xfrm>
        </p:grpSpPr>
        <p:sp>
          <p:nvSpPr>
            <p:cNvPr id="74" name="ar-d-oxm2-f0"/>
            <p:cNvSpPr/>
            <p:nvPr/>
          </p:nvSpPr>
          <p:spPr>
            <a:xfrm>
              <a:off x="0" y="0"/>
              <a:ext cx="272415" cy="101600"/>
            </a:xfrm>
            <a:custGeom>
              <a:avLst/>
              <a:gdLst/>
              <a:ahLst/>
              <a:cxnLst/>
              <a:rect l="0" t="0" r="r" b="b"/>
              <a:pathLst>
                <a:path w="4290" h="1600">
                  <a:moveTo>
                    <a:pt x="2300" y="0"/>
                  </a:moveTo>
                  <a:lnTo>
                    <a:pt x="4290" y="1150"/>
                  </a:lnTo>
                  <a:lnTo>
                    <a:pt x="3300" y="1600"/>
                  </a:lnTo>
                  <a:lnTo>
                    <a:pt x="2300" y="1080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1D4A47"/>
            </a:solidFill>
            <a:ln w="6350">
              <a:solidFill>
                <a:srgbClr val="2DD4BF"/>
              </a:solidFill>
            </a:ln>
          </p:spPr>
        </p:sp>
        <p:sp>
          <p:nvSpPr>
            <p:cNvPr id="75" name="ar-d-oxm2-f1"/>
            <p:cNvSpPr/>
            <p:nvPr/>
          </p:nvSpPr>
          <p:spPr>
            <a:xfrm>
              <a:off x="0" y="0"/>
              <a:ext cx="272415" cy="219075"/>
            </a:xfrm>
            <a:custGeom>
              <a:avLst/>
              <a:gdLst/>
              <a:ahLst/>
              <a:cxnLst/>
              <a:rect l="0" t="0" r="r" b="b"/>
              <a:pathLst>
                <a:path w="4290" h="3450">
                  <a:moveTo>
                    <a:pt x="4290" y="1150"/>
                  </a:moveTo>
                  <a:lnTo>
                    <a:pt x="4290" y="3450"/>
                  </a:lnTo>
                  <a:lnTo>
                    <a:pt x="3300" y="2630"/>
                  </a:lnTo>
                  <a:lnTo>
                    <a:pt x="3300" y="1600"/>
                  </a:lnTo>
                  <a:lnTo>
                    <a:pt x="4290" y="1150"/>
                  </a:lnTo>
                  <a:close/>
                </a:path>
              </a:pathLst>
            </a:custGeom>
            <a:solidFill>
              <a:srgbClr val="16262B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76" name="ar-d-oxm2-f2"/>
            <p:cNvSpPr/>
            <p:nvPr/>
          </p:nvSpPr>
          <p:spPr>
            <a:xfrm>
              <a:off x="0" y="0"/>
              <a:ext cx="272415" cy="292100"/>
            </a:xfrm>
            <a:custGeom>
              <a:avLst/>
              <a:gdLst/>
              <a:ahLst/>
              <a:cxnLst/>
              <a:rect l="0" t="0" r="r" b="b"/>
              <a:pathLst>
                <a:path w="4290" h="4600">
                  <a:moveTo>
                    <a:pt x="4290" y="3450"/>
                  </a:moveTo>
                  <a:lnTo>
                    <a:pt x="2300" y="4600"/>
                  </a:lnTo>
                  <a:lnTo>
                    <a:pt x="2300" y="3150"/>
                  </a:lnTo>
                  <a:lnTo>
                    <a:pt x="3300" y="2630"/>
                  </a:lnTo>
                  <a:lnTo>
                    <a:pt x="4290" y="3450"/>
                  </a:lnTo>
                  <a:close/>
                </a:path>
              </a:pathLst>
            </a:custGeom>
            <a:solidFill>
              <a:srgbClr val="0E1518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77" name="ar-d-oxm2-f3"/>
            <p:cNvSpPr/>
            <p:nvPr/>
          </p:nvSpPr>
          <p:spPr>
            <a:xfrm>
              <a:off x="0" y="0"/>
              <a:ext cx="146050" cy="292100"/>
            </a:xfrm>
            <a:custGeom>
              <a:avLst/>
              <a:gdLst/>
              <a:ahLst/>
              <a:cxnLst/>
              <a:rect l="0" t="0" r="r" b="b"/>
              <a:pathLst>
                <a:path w="2300" h="4600">
                  <a:moveTo>
                    <a:pt x="2300" y="4600"/>
                  </a:moveTo>
                  <a:lnTo>
                    <a:pt x="310" y="3450"/>
                  </a:lnTo>
                  <a:lnTo>
                    <a:pt x="1300" y="2630"/>
                  </a:lnTo>
                  <a:lnTo>
                    <a:pt x="2300" y="3150"/>
                  </a:lnTo>
                  <a:lnTo>
                    <a:pt x="2300" y="4600"/>
                  </a:lnTo>
                  <a:close/>
                </a:path>
              </a:pathLst>
            </a:custGeom>
            <a:solidFill>
              <a:srgbClr val="070B0D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78" name="ar-d-oxm2-f4"/>
            <p:cNvSpPr/>
            <p:nvPr/>
          </p:nvSpPr>
          <p:spPr>
            <a:xfrm>
              <a:off x="0" y="0"/>
              <a:ext cx="82550" cy="219075"/>
            </a:xfrm>
            <a:custGeom>
              <a:avLst/>
              <a:gdLst/>
              <a:ahLst/>
              <a:cxnLst/>
              <a:rect l="0" t="0" r="r" b="b"/>
              <a:pathLst>
                <a:path w="1300" h="3450">
                  <a:moveTo>
                    <a:pt x="310" y="3450"/>
                  </a:moveTo>
                  <a:lnTo>
                    <a:pt x="310" y="1150"/>
                  </a:lnTo>
                  <a:lnTo>
                    <a:pt x="1300" y="1600"/>
                  </a:lnTo>
                  <a:lnTo>
                    <a:pt x="1300" y="2630"/>
                  </a:lnTo>
                  <a:lnTo>
                    <a:pt x="310" y="3450"/>
                  </a:lnTo>
                  <a:close/>
                </a:path>
              </a:pathLst>
            </a:custGeom>
            <a:solidFill>
              <a:srgbClr val="0B1114"/>
            </a:solidFill>
            <a:ln w="6350">
              <a:solidFill>
                <a:srgbClr val="2DD4BF">
                  <a:alpha val="33333"/>
                </a:srgbClr>
              </a:solidFill>
            </a:ln>
          </p:spPr>
        </p:sp>
        <p:sp>
          <p:nvSpPr>
            <p:cNvPr id="79" name="ar-d-oxm2-f5"/>
            <p:cNvSpPr/>
            <p:nvPr/>
          </p:nvSpPr>
          <p:spPr>
            <a:xfrm>
              <a:off x="0" y="0"/>
              <a:ext cx="146050" cy="101600"/>
            </a:xfrm>
            <a:custGeom>
              <a:avLst/>
              <a:gdLst/>
              <a:ahLst/>
              <a:cxnLst/>
              <a:rect l="0" t="0" r="r" b="b"/>
              <a:pathLst>
                <a:path w="2300" h="1600">
                  <a:moveTo>
                    <a:pt x="310" y="1150"/>
                  </a:moveTo>
                  <a:lnTo>
                    <a:pt x="2300" y="0"/>
                  </a:lnTo>
                  <a:lnTo>
                    <a:pt x="2300" y="1080"/>
                  </a:lnTo>
                  <a:lnTo>
                    <a:pt x="1300" y="1600"/>
                  </a:lnTo>
                  <a:lnTo>
                    <a:pt x="310" y="1150"/>
                  </a:lnTo>
                  <a:close/>
                </a:path>
              </a:pathLst>
            </a:custGeom>
            <a:solidFill>
              <a:srgbClr val="1A2E33"/>
            </a:solidFill>
            <a:ln w="6350">
              <a:solidFill>
                <a:srgbClr val="2DD4BF"/>
              </a:solidFill>
            </a:ln>
          </p:spPr>
        </p:sp>
        <p:sp>
          <p:nvSpPr>
            <p:cNvPr id="80" name="ar-d-oxm2-table"/>
            <p:cNvSpPr/>
            <p:nvPr/>
          </p:nvSpPr>
          <p:spPr>
            <a:xfrm>
              <a:off x="0" y="0"/>
              <a:ext cx="209550" cy="200025"/>
            </a:xfrm>
            <a:custGeom>
              <a:avLst/>
              <a:gdLst/>
              <a:ahLst/>
              <a:cxnLst/>
              <a:rect l="0" t="0" r="r" b="b"/>
              <a:pathLst>
                <a:path w="3300" h="3150">
                  <a:moveTo>
                    <a:pt x="2300" y="1080"/>
                  </a:moveTo>
                  <a:lnTo>
                    <a:pt x="3300" y="1600"/>
                  </a:lnTo>
                  <a:lnTo>
                    <a:pt x="3300" y="2630"/>
                  </a:lnTo>
                  <a:lnTo>
                    <a:pt x="2300" y="3150"/>
                  </a:lnTo>
                  <a:lnTo>
                    <a:pt x="1300" y="2630"/>
                  </a:lnTo>
                  <a:lnTo>
                    <a:pt x="1300" y="1600"/>
                  </a:lnTo>
                  <a:lnTo>
                    <a:pt x="2300" y="1080"/>
                  </a:lnTo>
                  <a:close/>
                </a:path>
              </a:pathLst>
            </a:custGeom>
            <a:solidFill>
              <a:srgbClr val="0A1013"/>
            </a:solidFill>
            <a:ln w="6350">
              <a:solidFill>
                <a:srgbClr val="99F6E4"/>
              </a:solidFill>
            </a:ln>
          </p:spPr>
        </p:sp>
      </p:grpSp>
      <p:sp>
        <p:nvSpPr>
          <p:cNvPr id="82" name="ar-d-a2"/>
          <p:cNvSpPr/>
          <p:nvPr/>
        </p:nvSpPr>
        <p:spPr>
          <a:xfrm>
            <a:off x="3022600" y="508000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FF2D55"/>
          </a:solidFill>
          <a:ln>
            <a:noFill/>
          </a:ln>
        </p:spPr>
      </p:sp>
      <p:sp>
        <p:nvSpPr>
          <p:cNvPr id="83" name="ar-d-b2"/>
          <p:cNvSpPr/>
          <p:nvPr/>
        </p:nvSpPr>
        <p:spPr>
          <a:xfrm>
            <a:off x="7708900" y="5080000"/>
            <a:ext cx="838200" cy="107950"/>
          </a:xfrm>
          <a:custGeom>
            <a:avLst/>
            <a:gdLst/>
            <a:ahLst/>
            <a:cxnLst/>
            <a:rect l="0" t="0" r="r" b="b"/>
            <a:pathLst>
              <a:path w="13200" h="1700">
                <a:moveTo>
                  <a:pt x="0" y="650"/>
                </a:moveTo>
                <a:lnTo>
                  <a:pt x="11840" y="650"/>
                </a:lnTo>
                <a:lnTo>
                  <a:pt x="11840" y="0"/>
                </a:lnTo>
                <a:lnTo>
                  <a:pt x="13200" y="850"/>
                </a:lnTo>
                <a:lnTo>
                  <a:pt x="11840" y="1700"/>
                </a:lnTo>
                <a:lnTo>
                  <a:pt x="11840" y="1050"/>
                </a:lnTo>
                <a:lnTo>
                  <a:pt x="0" y="1050"/>
                </a:lnTo>
                <a:lnTo>
                  <a:pt x="0" y="650"/>
                </a:lnTo>
                <a:close/>
              </a:path>
            </a:pathLst>
          </a:custGeom>
          <a:solidFill>
            <a:srgbClr val="2DD4BF"/>
          </a:solidFill>
          <a:ln>
            <a:noFill/>
          </a:ln>
        </p:spPr>
      </p:sp>
      <p:sp>
        <p:nvSpPr>
          <p:cNvPr id="84" name="ar-d-lab1"/>
          <p:cNvSpPr txBox="1"/>
          <p:nvPr/>
        </p:nvSpPr>
        <p:spPr>
          <a:xfrm>
            <a:off x="2800350" y="2071319"/>
            <a:ext cx="1603375" cy="1257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buNone/>
            </a:pPr>
            <a:r>
              <a:rPr lang="en-US" sz="8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OpenAI API + jxr_ key</a:t>
            </a:r>
            <a:endParaRPr lang="en-US" sz="800" dirty="0"/>
          </a:p>
        </p:txBody>
      </p:sp>
      <p:sp>
        <p:nvSpPr>
          <p:cNvPr id="85" name="ar-d-lab2"/>
          <p:cNvSpPr txBox="1"/>
          <p:nvPr/>
        </p:nvSpPr>
        <p:spPr>
          <a:xfrm>
            <a:off x="7486650" y="2066036"/>
            <a:ext cx="1603375" cy="12471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056"/>
              </a:lnSpc>
              <a:buNone/>
            </a:pPr>
            <a:r>
              <a:rPr lang="en-US" sz="8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one process per model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s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m-lines-set"/>
          <p:cNvGrpSpPr/>
          <p:nvPr/>
        </p:nvGrpSpPr>
        <p:grpSpPr>
          <a:xfrm>
            <a:off x="0" y="76200"/>
            <a:ext cx="12192000" cy="6610350"/>
            <a:chOff x="0" y="0"/>
            <a:chExt cx="12192000" cy="6610350"/>
          </a:xfrm>
        </p:grpSpPr>
        <p:pic>
          <p:nvPicPr>
            <p:cNvPr id="2" name="m-lines" descr="m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10350"/>
            </a:xfrm>
            <a:prstGeom prst="rect">
              <a:avLst/>
            </a:prstGeom>
          </p:spPr>
        </p:pic>
      </p:grpSp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4</a:t>
            </a:r>
            <a:endParaRPr lang="en-US" sz="1200" dirty="0"/>
          </a:p>
        </p:txBody>
      </p:sp>
      <p:grpSp>
        <p:nvGrpSpPr>
          <p:cNvPr id="24" name="m-logo"/>
          <p:cNvGrpSpPr/>
          <p:nvPr/>
        </p:nvGrpSpPr>
        <p:grpSpPr>
          <a:xfrm>
            <a:off x="889000" y="6108700"/>
            <a:ext cx="2514600" cy="254000"/>
            <a:chOff x="0" y="0"/>
            <a:chExt cx="2514600" cy="254000"/>
          </a:xfrm>
        </p:grpSpPr>
        <p:grpSp>
          <p:nvGrpSpPr>
            <p:cNvPr id="12" name="m-logo-jx"/>
            <p:cNvGrpSpPr/>
            <p:nvPr/>
          </p:nvGrpSpPr>
          <p:grpSpPr>
            <a:xfrm>
              <a:off x="0" y="0"/>
              <a:ext cx="1098550" cy="254000"/>
              <a:chOff x="0" y="0"/>
              <a:chExt cx="1098550" cy="254000"/>
            </a:xfrm>
          </p:grpSpPr>
          <p:grpSp>
            <p:nvGrpSpPr>
              <p:cNvPr id="10" name="m-logo-jx-mark"/>
              <p:cNvGrpSpPr/>
              <p:nvPr/>
            </p:nvGrpSpPr>
            <p:grpSpPr>
              <a:xfrm>
                <a:off x="0" y="0"/>
                <a:ext cx="254000" cy="254000"/>
                <a:chOff x="0" y="0"/>
                <a:chExt cx="254000" cy="254000"/>
              </a:xfrm>
            </p:grpSpPr>
            <p:sp>
              <p:nvSpPr>
                <p:cNvPr id="5" name="m-logo-jx-mark-tile"/>
                <p:cNvSpPr/>
                <p:nvPr/>
              </p:nvSpPr>
              <p:spPr>
                <a:xfrm>
                  <a:off x="12700" y="12700"/>
                  <a:ext cx="228600" cy="2286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6" name="m-logo-jx-mark-rail"/>
                <p:cNvSpPr/>
                <p:nvPr/>
              </p:nvSpPr>
              <p:spPr>
                <a:xfrm>
                  <a:off x="50800" y="196850"/>
                  <a:ext cx="1524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7" name="m-logo-jx-mark-halo"/>
                <p:cNvSpPr/>
                <p:nvPr/>
              </p:nvSpPr>
              <p:spPr>
                <a:xfrm>
                  <a:off x="177800" y="25400"/>
                  <a:ext cx="57150" cy="571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8" name="m-logo-jx-mark-led"/>
                <p:cNvSpPr/>
                <p:nvPr/>
              </p:nvSpPr>
              <p:spPr>
                <a:xfrm>
                  <a:off x="190500" y="38100"/>
                  <a:ext cx="25400" cy="2540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9" name="m-logo-jx-mark-jx"/>
                <p:cNvSpPr txBox="1"/>
                <p:nvPr/>
              </p:nvSpPr>
              <p:spPr>
                <a:xfrm>
                  <a:off x="38100" y="29083"/>
                  <a:ext cx="342900" cy="1296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1179"/>
                    </a:lnSpc>
                    <a:buNone/>
                  </a:pPr>
                  <a:r>
                    <a:rPr lang="en-US" sz="90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900" dirty="0"/>
                </a:p>
              </p:txBody>
            </p:sp>
          </p:grpSp>
          <p:sp>
            <p:nvSpPr>
              <p:cNvPr id="11" name="m-logo-jx-word"/>
              <p:cNvSpPr txBox="1"/>
              <p:nvPr/>
            </p:nvSpPr>
            <p:spPr>
              <a:xfrm>
                <a:off x="317500" y="30988"/>
                <a:ext cx="976312" cy="17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00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000" dirty="0"/>
              </a:p>
            </p:txBody>
          </p:sp>
        </p:grpSp>
        <p:sp>
          <p:nvSpPr>
            <p:cNvPr id="13" name="m-logo-plus"/>
            <p:cNvSpPr txBox="1"/>
            <p:nvPr/>
          </p:nvSpPr>
          <p:spPr>
            <a:xfrm>
              <a:off x="1212850" y="-26511"/>
              <a:ext cx="339725" cy="1979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10"/>
                </a:lnSpc>
                <a:buNone/>
              </a:pPr>
              <a:r>
                <a:rPr lang="en-US" sz="12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1250" dirty="0"/>
            </a:p>
          </p:txBody>
        </p:sp>
        <p:grpSp>
          <p:nvGrpSpPr>
            <p:cNvPr id="23" name="m-logo-onyx"/>
            <p:cNvGrpSpPr/>
            <p:nvPr/>
          </p:nvGrpSpPr>
          <p:grpSpPr>
            <a:xfrm>
              <a:off x="1428750" y="0"/>
              <a:ext cx="1085850" cy="254000"/>
              <a:chOff x="0" y="0"/>
              <a:chExt cx="1085850" cy="254000"/>
            </a:xfrm>
          </p:grpSpPr>
          <p:grpSp>
            <p:nvGrpSpPr>
              <p:cNvPr id="21" name="m-logo-onyx-mark"/>
              <p:cNvGrpSpPr/>
              <p:nvPr/>
            </p:nvGrpSpPr>
            <p:grpSpPr>
              <a:xfrm>
                <a:off x="0" y="0"/>
                <a:ext cx="236855" cy="254000"/>
                <a:chOff x="0" y="0"/>
                <a:chExt cx="236855" cy="254000"/>
              </a:xfrm>
            </p:grpSpPr>
            <p:sp>
              <p:nvSpPr>
                <p:cNvPr id="14" name="m-logo-onyx-mark-f0"/>
                <p:cNvSpPr/>
                <p:nvPr/>
              </p:nvSpPr>
              <p:spPr>
                <a:xfrm>
                  <a:off x="0" y="0"/>
                  <a:ext cx="236855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1390">
                      <a:moveTo>
                        <a:pt x="2000" y="0"/>
                      </a:moveTo>
                      <a:lnTo>
                        <a:pt x="3730" y="1000"/>
                      </a:lnTo>
                      <a:lnTo>
                        <a:pt x="2870" y="1390"/>
                      </a:lnTo>
                      <a:lnTo>
                        <a:pt x="2000" y="940"/>
                      </a:lnTo>
                      <a:lnTo>
                        <a:pt x="20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5" name="m-logo-onyx-mark-f1"/>
                <p:cNvSpPr/>
                <p:nvPr/>
              </p:nvSpPr>
              <p:spPr>
                <a:xfrm>
                  <a:off x="0" y="0"/>
                  <a:ext cx="2368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3000">
                      <a:moveTo>
                        <a:pt x="3730" y="1000"/>
                      </a:moveTo>
                      <a:lnTo>
                        <a:pt x="3730" y="3000"/>
                      </a:lnTo>
                      <a:lnTo>
                        <a:pt x="2870" y="2290"/>
                      </a:lnTo>
                      <a:lnTo>
                        <a:pt x="2870" y="1390"/>
                      </a:lnTo>
                      <a:lnTo>
                        <a:pt x="3730" y="100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6" name="m-logo-onyx-mark-f2"/>
                <p:cNvSpPr/>
                <p:nvPr/>
              </p:nvSpPr>
              <p:spPr>
                <a:xfrm>
                  <a:off x="0" y="0"/>
                  <a:ext cx="236855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4000">
                      <a:moveTo>
                        <a:pt x="3730" y="3000"/>
                      </a:moveTo>
                      <a:lnTo>
                        <a:pt x="2000" y="4000"/>
                      </a:lnTo>
                      <a:lnTo>
                        <a:pt x="2000" y="2740"/>
                      </a:lnTo>
                      <a:lnTo>
                        <a:pt x="2870" y="2290"/>
                      </a:lnTo>
                      <a:lnTo>
                        <a:pt x="3730" y="300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m-logo-onyx-mark-f3"/>
                <p:cNvSpPr/>
                <p:nvPr/>
              </p:nvSpPr>
              <p:spPr>
                <a:xfrm>
                  <a:off x="0" y="0"/>
                  <a:ext cx="127000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4000">
                      <a:moveTo>
                        <a:pt x="2000" y="4000"/>
                      </a:moveTo>
                      <a:lnTo>
                        <a:pt x="270" y="3000"/>
                      </a:lnTo>
                      <a:lnTo>
                        <a:pt x="1130" y="2290"/>
                      </a:lnTo>
                      <a:lnTo>
                        <a:pt x="2000" y="2740"/>
                      </a:lnTo>
                      <a:lnTo>
                        <a:pt x="2000" y="4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m-logo-onyx-mark-f4"/>
                <p:cNvSpPr/>
                <p:nvPr/>
              </p:nvSpPr>
              <p:spPr>
                <a:xfrm>
                  <a:off x="0" y="0"/>
                  <a:ext cx="717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30" h="3000">
                      <a:moveTo>
                        <a:pt x="270" y="3000"/>
                      </a:moveTo>
                      <a:lnTo>
                        <a:pt x="270" y="1000"/>
                      </a:lnTo>
                      <a:lnTo>
                        <a:pt x="1130" y="1390"/>
                      </a:lnTo>
                      <a:lnTo>
                        <a:pt x="1130" y="2290"/>
                      </a:lnTo>
                      <a:lnTo>
                        <a:pt x="270" y="300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m-logo-onyx-mark-f5"/>
                <p:cNvSpPr/>
                <p:nvPr/>
              </p:nvSpPr>
              <p:spPr>
                <a:xfrm>
                  <a:off x="0" y="0"/>
                  <a:ext cx="127000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1390">
                      <a:moveTo>
                        <a:pt x="270" y="1000"/>
                      </a:moveTo>
                      <a:lnTo>
                        <a:pt x="2000" y="0"/>
                      </a:lnTo>
                      <a:lnTo>
                        <a:pt x="2000" y="940"/>
                      </a:lnTo>
                      <a:lnTo>
                        <a:pt x="1130" y="1390"/>
                      </a:lnTo>
                      <a:lnTo>
                        <a:pt x="270" y="100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0" name="m-logo-onyx-mark-table"/>
                <p:cNvSpPr/>
                <p:nvPr/>
              </p:nvSpPr>
              <p:spPr>
                <a:xfrm>
                  <a:off x="0" y="0"/>
                  <a:ext cx="182245" cy="1739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70" h="2740">
                      <a:moveTo>
                        <a:pt x="2000" y="940"/>
                      </a:moveTo>
                      <a:lnTo>
                        <a:pt x="2870" y="1390"/>
                      </a:lnTo>
                      <a:lnTo>
                        <a:pt x="2870" y="2290"/>
                      </a:lnTo>
                      <a:lnTo>
                        <a:pt x="2000" y="2740"/>
                      </a:lnTo>
                      <a:lnTo>
                        <a:pt x="1130" y="2290"/>
                      </a:lnTo>
                      <a:lnTo>
                        <a:pt x="1130" y="1390"/>
                      </a:lnTo>
                      <a:lnTo>
                        <a:pt x="2000" y="94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2" name="m-logo-onyx-word"/>
              <p:cNvSpPr txBox="1"/>
              <p:nvPr/>
            </p:nvSpPr>
            <p:spPr>
              <a:xfrm>
                <a:off x="317500" y="42926"/>
                <a:ext cx="960438" cy="166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00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000" dirty="0"/>
              </a:p>
            </p:txBody>
          </p:sp>
        </p:grpSp>
      </p:grpSp>
      <p:sp>
        <p:nvSpPr>
          <p:cNvPr id="25" name="st-kicker"/>
          <p:cNvSpPr txBox="1"/>
          <p:nvPr/>
        </p:nvSpPr>
        <p:spPr>
          <a:xfrm>
            <a:off x="889000" y="662330"/>
            <a:ext cx="1603375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SWITCH ENGINES</a:t>
            </a:r>
            <a:endParaRPr lang="en-US" sz="1200" dirty="0"/>
          </a:p>
        </p:txBody>
      </p:sp>
      <p:sp>
        <p:nvSpPr>
          <p:cNvPr id="26" name="st-title"/>
          <p:cNvSpPr>
            <a:spLocks noGrp="1"/>
          </p:cNvSpPr>
          <p:nvPr>
            <p:ph type="title"/>
          </p:nvPr>
        </p:nvSpPr>
        <p:spPr>
          <a:xfrm>
            <a:off x="889000" y="1163625"/>
            <a:ext cx="9604375" cy="582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Four steps. </a:t>
            </a:r>
            <a:r>
              <a:rPr lang="en-US" sz="48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One setting.</a:t>
            </a:r>
            <a:endParaRPr lang="en-US" sz="4800" dirty="0"/>
          </a:p>
        </p:txBody>
      </p:sp>
      <p:sp>
        <p:nvSpPr>
          <p:cNvPr id="27" name="st-c0"/>
          <p:cNvSpPr/>
          <p:nvPr/>
        </p:nvSpPr>
        <p:spPr>
          <a:xfrm>
            <a:off x="901700" y="2203450"/>
            <a:ext cx="2438400" cy="3530600"/>
          </a:xfrm>
          <a:prstGeom prst="roundRect">
            <a:avLst>
              <a:gd name="adj" fmla="val 59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28" name="st-bar0"/>
          <p:cNvSpPr/>
          <p:nvPr/>
        </p:nvSpPr>
        <p:spPr>
          <a:xfrm>
            <a:off x="889000" y="2190750"/>
            <a:ext cx="2463800" cy="508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29" name="st-n0"/>
          <p:cNvSpPr txBox="1"/>
          <p:nvPr/>
        </p:nvSpPr>
        <p:spPr>
          <a:xfrm>
            <a:off x="1117600" y="2412670"/>
            <a:ext cx="615950" cy="254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01</a:t>
            </a:r>
            <a:endParaRPr lang="en-US" sz="1700" dirty="0"/>
          </a:p>
        </p:txBody>
      </p:sp>
      <p:sp>
        <p:nvSpPr>
          <p:cNvPr id="30" name="st-t0"/>
          <p:cNvSpPr txBox="1"/>
          <p:nvPr/>
        </p:nvSpPr>
        <p:spPr>
          <a:xfrm>
            <a:off x="1117600" y="2834322"/>
            <a:ext cx="1555750" cy="2898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70"/>
              </a:lnSpc>
              <a:buNone/>
            </a:pPr>
            <a:r>
              <a:rPr lang="en-US" sz="25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Install</a:t>
            </a:r>
            <a:endParaRPr lang="en-US" sz="2500" dirty="0"/>
          </a:p>
        </p:txBody>
      </p:sp>
      <p:sp>
        <p:nvSpPr>
          <p:cNvPr id="31" name="st-cmd0"/>
          <p:cNvSpPr txBox="1"/>
          <p:nvPr/>
        </p:nvSpPr>
        <p:spPr>
          <a:xfrm>
            <a:off x="1117600" y="3438017"/>
            <a:ext cx="2006600" cy="3529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7E8BD"/>
                </a:solidFill>
                <a:latin typeface="JetBrains Mono"/>
                <a:ea typeface="JetBrains Mono"/>
                <a:cs typeface="JetBrains Mono"/>
              </a:rPr>
              <a:t>jx-runtime backend install --engine onyx</a:t>
            </a:r>
            <a:endParaRPr lang="en-US" sz="1050" dirty="0"/>
          </a:p>
        </p:txBody>
      </p:sp>
      <p:sp>
        <p:nvSpPr>
          <p:cNvPr id="32" name="st-d0"/>
          <p:cNvSpPr txBox="1"/>
          <p:nvPr/>
        </p:nvSpPr>
        <p:spPr>
          <a:xfrm>
            <a:off x="1117600" y="4204335"/>
            <a:ext cx="2006600" cy="856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A prebuilt onyx-engine, checked against its release checksums, lands in the data directory.</a:t>
            </a:r>
            <a:endParaRPr lang="en-US" sz="1250" dirty="0"/>
          </a:p>
        </p:txBody>
      </p:sp>
      <p:sp>
        <p:nvSpPr>
          <p:cNvPr id="33" name="st-c1"/>
          <p:cNvSpPr/>
          <p:nvPr/>
        </p:nvSpPr>
        <p:spPr>
          <a:xfrm>
            <a:off x="3556000" y="2203450"/>
            <a:ext cx="2438400" cy="3530600"/>
          </a:xfrm>
          <a:prstGeom prst="roundRect">
            <a:avLst>
              <a:gd name="adj" fmla="val 59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4" name="st-bar1"/>
          <p:cNvSpPr/>
          <p:nvPr/>
        </p:nvSpPr>
        <p:spPr>
          <a:xfrm>
            <a:off x="3543300" y="2190750"/>
            <a:ext cx="24638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5" name="st-n1"/>
          <p:cNvSpPr txBox="1"/>
          <p:nvPr/>
        </p:nvSpPr>
        <p:spPr>
          <a:xfrm>
            <a:off x="3771900" y="2412670"/>
            <a:ext cx="615950" cy="254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Archivo"/>
                <a:ea typeface="Archivo"/>
                <a:cs typeface="Archivo"/>
              </a:rPr>
              <a:t>02</a:t>
            </a:r>
            <a:endParaRPr lang="en-US" sz="1700" dirty="0"/>
          </a:p>
        </p:txBody>
      </p:sp>
      <p:sp>
        <p:nvSpPr>
          <p:cNvPr id="36" name="st-t1"/>
          <p:cNvSpPr txBox="1"/>
          <p:nvPr/>
        </p:nvSpPr>
        <p:spPr>
          <a:xfrm>
            <a:off x="3771900" y="2834322"/>
            <a:ext cx="1587500" cy="2898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70"/>
              </a:lnSpc>
              <a:buNone/>
            </a:pPr>
            <a:r>
              <a:rPr lang="en-US" sz="25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Select</a:t>
            </a:r>
            <a:endParaRPr lang="en-US" sz="2500" dirty="0"/>
          </a:p>
        </p:txBody>
      </p:sp>
      <p:sp>
        <p:nvSpPr>
          <p:cNvPr id="37" name="st-cmd1"/>
          <p:cNvSpPr txBox="1"/>
          <p:nvPr/>
        </p:nvSpPr>
        <p:spPr>
          <a:xfrm>
            <a:off x="3771900" y="3438017"/>
            <a:ext cx="2006600" cy="3529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7E8BD"/>
                </a:solidFill>
                <a:latin typeface="JetBrains Mono"/>
                <a:ea typeface="JetBrains Mono"/>
                <a:cs typeface="JetBrains Mono"/>
              </a:rPr>
              <a:t>execution.backend: "onyxengine"</a:t>
            </a:r>
            <a:endParaRPr lang="en-US" sz="1050" dirty="0"/>
          </a:p>
        </p:txBody>
      </p:sp>
      <p:sp>
        <p:nvSpPr>
          <p:cNvPr id="38" name="st-d1"/>
          <p:cNvSpPr txBox="1"/>
          <p:nvPr/>
        </p:nvSpPr>
        <p:spPr>
          <a:xfrm>
            <a:off x="3771900" y="4204335"/>
            <a:ext cx="2006600" cy="856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One setting. Its adapter subclasses the llama.cpp one: same spawn, streaming and restart code.</a:t>
            </a:r>
            <a:endParaRPr lang="en-US" sz="1250" dirty="0"/>
          </a:p>
        </p:txBody>
      </p:sp>
      <p:sp>
        <p:nvSpPr>
          <p:cNvPr id="39" name="st-c2"/>
          <p:cNvSpPr/>
          <p:nvPr/>
        </p:nvSpPr>
        <p:spPr>
          <a:xfrm>
            <a:off x="6203950" y="2203450"/>
            <a:ext cx="2438400" cy="3530600"/>
          </a:xfrm>
          <a:prstGeom prst="roundRect">
            <a:avLst>
              <a:gd name="adj" fmla="val 59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40" name="st-bar2"/>
          <p:cNvSpPr/>
          <p:nvPr/>
        </p:nvSpPr>
        <p:spPr>
          <a:xfrm>
            <a:off x="6191250" y="2190750"/>
            <a:ext cx="24638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1" name="st-n2"/>
          <p:cNvSpPr txBox="1"/>
          <p:nvPr/>
        </p:nvSpPr>
        <p:spPr>
          <a:xfrm>
            <a:off x="6419850" y="2412670"/>
            <a:ext cx="615950" cy="254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Archivo"/>
                <a:ea typeface="Archivo"/>
                <a:cs typeface="Archivo"/>
              </a:rPr>
              <a:t>03</a:t>
            </a:r>
            <a:endParaRPr lang="en-US" sz="1700" dirty="0"/>
          </a:p>
        </p:txBody>
      </p:sp>
      <p:sp>
        <p:nvSpPr>
          <p:cNvPr id="42" name="st-t2"/>
          <p:cNvSpPr txBox="1"/>
          <p:nvPr/>
        </p:nvSpPr>
        <p:spPr>
          <a:xfrm>
            <a:off x="6419850" y="2826385"/>
            <a:ext cx="146685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70"/>
              </a:lnSpc>
              <a:buNone/>
            </a:pPr>
            <a:r>
              <a:rPr lang="en-US" sz="25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Serve</a:t>
            </a:r>
            <a:endParaRPr lang="en-US" sz="2500" dirty="0"/>
          </a:p>
        </p:txBody>
      </p:sp>
      <p:sp>
        <p:nvSpPr>
          <p:cNvPr id="43" name="st-cmd2"/>
          <p:cNvSpPr txBox="1"/>
          <p:nvPr/>
        </p:nvSpPr>
        <p:spPr>
          <a:xfrm>
            <a:off x="6419850" y="3438017"/>
            <a:ext cx="2006600" cy="3529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7E8BD"/>
                </a:solidFill>
                <a:latin typeface="JetBrains Mono"/>
                <a:ea typeface="JetBrains Mono"/>
                <a:cs typeface="JetBrains Mono"/>
              </a:rPr>
              <a:t>one onyx-engine per loaded model</a:t>
            </a:r>
            <a:endParaRPr lang="en-US" sz="1050" dirty="0"/>
          </a:p>
        </p:txBody>
      </p:sp>
      <p:sp>
        <p:nvSpPr>
          <p:cNvPr id="44" name="st-d2"/>
          <p:cNvSpPr txBox="1"/>
          <p:nvPr/>
        </p:nvSpPr>
        <p:spPr>
          <a:xfrm>
            <a:off x="6419850" y="4204335"/>
            <a:ext cx="2006600" cy="6470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Bound to 127.0.0.1, polled at /health, its OpenAI endpoints proxied through.</a:t>
            </a:r>
            <a:endParaRPr lang="en-US" sz="1250" dirty="0"/>
          </a:p>
        </p:txBody>
      </p:sp>
      <p:sp>
        <p:nvSpPr>
          <p:cNvPr id="45" name="st-c3"/>
          <p:cNvSpPr/>
          <p:nvPr/>
        </p:nvSpPr>
        <p:spPr>
          <a:xfrm>
            <a:off x="8851900" y="2203450"/>
            <a:ext cx="2438400" cy="3530600"/>
          </a:xfrm>
          <a:prstGeom prst="roundRect">
            <a:avLst>
              <a:gd name="adj" fmla="val 5990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46" name="st-bar3"/>
          <p:cNvSpPr/>
          <p:nvPr/>
        </p:nvSpPr>
        <p:spPr>
          <a:xfrm>
            <a:off x="8839200" y="2190750"/>
            <a:ext cx="2463800" cy="50800"/>
          </a:xfrm>
          <a:prstGeom prst="rect">
            <a:avLst/>
          </a:prstGeom>
          <a:solidFill>
            <a:srgbClr val="FF2D55"/>
          </a:solidFill>
          <a:ln>
            <a:noFill/>
          </a:ln>
        </p:spPr>
      </p:sp>
      <p:sp>
        <p:nvSpPr>
          <p:cNvPr id="47" name="st-n3"/>
          <p:cNvSpPr txBox="1"/>
          <p:nvPr/>
        </p:nvSpPr>
        <p:spPr>
          <a:xfrm>
            <a:off x="9067800" y="2412670"/>
            <a:ext cx="615950" cy="254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04</a:t>
            </a:r>
            <a:endParaRPr lang="en-US" sz="1700" dirty="0"/>
          </a:p>
        </p:txBody>
      </p:sp>
      <p:sp>
        <p:nvSpPr>
          <p:cNvPr id="48" name="st-t3"/>
          <p:cNvSpPr txBox="1"/>
          <p:nvPr/>
        </p:nvSpPr>
        <p:spPr>
          <a:xfrm>
            <a:off x="9067800" y="2834322"/>
            <a:ext cx="1479550" cy="2898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770"/>
              </a:lnSpc>
              <a:buNone/>
            </a:pPr>
            <a:r>
              <a:rPr lang="en-US" sz="25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Share</a:t>
            </a:r>
            <a:endParaRPr lang="en-US" sz="2500" dirty="0"/>
          </a:p>
        </p:txBody>
      </p:sp>
      <p:sp>
        <p:nvSpPr>
          <p:cNvPr id="49" name="st-cmd3"/>
          <p:cNvSpPr txBox="1"/>
          <p:nvPr/>
        </p:nvSpPr>
        <p:spPr>
          <a:xfrm>
            <a:off x="9067800" y="3438017"/>
            <a:ext cx="2006600" cy="3529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7E8BD"/>
                </a:solidFill>
                <a:latin typeface="JetBrains Mono"/>
                <a:ea typeface="JetBrains Mono"/>
                <a:cs typeface="JetBrains Mono"/>
              </a:rPr>
              <a:t>Authorization: Bearer jxr_…</a:t>
            </a:r>
            <a:endParaRPr lang="en-US" sz="1050" dirty="0"/>
          </a:p>
        </p:txBody>
      </p:sp>
      <p:sp>
        <p:nvSpPr>
          <p:cNvPr id="50" name="st-d3"/>
          <p:cNvSpPr txBox="1"/>
          <p:nvPr/>
        </p:nvSpPr>
        <p:spPr>
          <a:xfrm>
            <a:off x="9067800" y="4204335"/>
            <a:ext cx="2006600" cy="8566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Apps and paired devices reach it through JX Runtime's keys, TLS and rate limits.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e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m-lines-set"/>
          <p:cNvGrpSpPr/>
          <p:nvPr/>
        </p:nvGrpSpPr>
        <p:grpSpPr>
          <a:xfrm>
            <a:off x="0" y="76200"/>
            <a:ext cx="12192000" cy="6610350"/>
            <a:chOff x="0" y="0"/>
            <a:chExt cx="12192000" cy="6610350"/>
          </a:xfrm>
        </p:grpSpPr>
        <p:pic>
          <p:nvPicPr>
            <p:cNvPr id="2" name="m-lines" descr="m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10350"/>
            </a:xfrm>
            <a:prstGeom prst="rect">
              <a:avLst/>
            </a:prstGeom>
          </p:spPr>
        </p:pic>
      </p:grpSp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5</a:t>
            </a:r>
            <a:endParaRPr lang="en-US" sz="1200" dirty="0"/>
          </a:p>
        </p:txBody>
      </p:sp>
      <p:grpSp>
        <p:nvGrpSpPr>
          <p:cNvPr id="24" name="m-logo"/>
          <p:cNvGrpSpPr/>
          <p:nvPr/>
        </p:nvGrpSpPr>
        <p:grpSpPr>
          <a:xfrm>
            <a:off x="889000" y="6108700"/>
            <a:ext cx="2514600" cy="254000"/>
            <a:chOff x="0" y="0"/>
            <a:chExt cx="2514600" cy="254000"/>
          </a:xfrm>
        </p:grpSpPr>
        <p:grpSp>
          <p:nvGrpSpPr>
            <p:cNvPr id="12" name="m-logo-jx"/>
            <p:cNvGrpSpPr/>
            <p:nvPr/>
          </p:nvGrpSpPr>
          <p:grpSpPr>
            <a:xfrm>
              <a:off x="0" y="0"/>
              <a:ext cx="1098550" cy="254000"/>
              <a:chOff x="0" y="0"/>
              <a:chExt cx="1098550" cy="254000"/>
            </a:xfrm>
          </p:grpSpPr>
          <p:grpSp>
            <p:nvGrpSpPr>
              <p:cNvPr id="10" name="m-logo-jx-mark"/>
              <p:cNvGrpSpPr/>
              <p:nvPr/>
            </p:nvGrpSpPr>
            <p:grpSpPr>
              <a:xfrm>
                <a:off x="0" y="0"/>
                <a:ext cx="254000" cy="254000"/>
                <a:chOff x="0" y="0"/>
                <a:chExt cx="254000" cy="254000"/>
              </a:xfrm>
            </p:grpSpPr>
            <p:sp>
              <p:nvSpPr>
                <p:cNvPr id="5" name="m-logo-jx-mark-tile"/>
                <p:cNvSpPr/>
                <p:nvPr/>
              </p:nvSpPr>
              <p:spPr>
                <a:xfrm>
                  <a:off x="12700" y="12700"/>
                  <a:ext cx="228600" cy="2286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6" name="m-logo-jx-mark-rail"/>
                <p:cNvSpPr/>
                <p:nvPr/>
              </p:nvSpPr>
              <p:spPr>
                <a:xfrm>
                  <a:off x="50800" y="196850"/>
                  <a:ext cx="1524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7" name="m-logo-jx-mark-halo"/>
                <p:cNvSpPr/>
                <p:nvPr/>
              </p:nvSpPr>
              <p:spPr>
                <a:xfrm>
                  <a:off x="177800" y="25400"/>
                  <a:ext cx="57150" cy="571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8" name="m-logo-jx-mark-led"/>
                <p:cNvSpPr/>
                <p:nvPr/>
              </p:nvSpPr>
              <p:spPr>
                <a:xfrm>
                  <a:off x="190500" y="38100"/>
                  <a:ext cx="25400" cy="2540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9" name="m-logo-jx-mark-jx"/>
                <p:cNvSpPr txBox="1"/>
                <p:nvPr/>
              </p:nvSpPr>
              <p:spPr>
                <a:xfrm>
                  <a:off x="38100" y="29083"/>
                  <a:ext cx="342900" cy="1296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1179"/>
                    </a:lnSpc>
                    <a:buNone/>
                  </a:pPr>
                  <a:r>
                    <a:rPr lang="en-US" sz="90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900" dirty="0"/>
                </a:p>
              </p:txBody>
            </p:sp>
          </p:grpSp>
          <p:sp>
            <p:nvSpPr>
              <p:cNvPr id="11" name="m-logo-jx-word"/>
              <p:cNvSpPr txBox="1"/>
              <p:nvPr/>
            </p:nvSpPr>
            <p:spPr>
              <a:xfrm>
                <a:off x="317500" y="30988"/>
                <a:ext cx="976312" cy="17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00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000" dirty="0"/>
              </a:p>
            </p:txBody>
          </p:sp>
        </p:grpSp>
        <p:sp>
          <p:nvSpPr>
            <p:cNvPr id="13" name="m-logo-plus"/>
            <p:cNvSpPr txBox="1"/>
            <p:nvPr/>
          </p:nvSpPr>
          <p:spPr>
            <a:xfrm>
              <a:off x="1212850" y="-26511"/>
              <a:ext cx="339725" cy="1979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10"/>
                </a:lnSpc>
                <a:buNone/>
              </a:pPr>
              <a:r>
                <a:rPr lang="en-US" sz="12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1250" dirty="0"/>
            </a:p>
          </p:txBody>
        </p:sp>
        <p:grpSp>
          <p:nvGrpSpPr>
            <p:cNvPr id="23" name="m-logo-onyx"/>
            <p:cNvGrpSpPr/>
            <p:nvPr/>
          </p:nvGrpSpPr>
          <p:grpSpPr>
            <a:xfrm>
              <a:off x="1428750" y="0"/>
              <a:ext cx="1085850" cy="254000"/>
              <a:chOff x="0" y="0"/>
              <a:chExt cx="1085850" cy="254000"/>
            </a:xfrm>
          </p:grpSpPr>
          <p:grpSp>
            <p:nvGrpSpPr>
              <p:cNvPr id="21" name="m-logo-onyx-mark"/>
              <p:cNvGrpSpPr/>
              <p:nvPr/>
            </p:nvGrpSpPr>
            <p:grpSpPr>
              <a:xfrm>
                <a:off x="0" y="0"/>
                <a:ext cx="236855" cy="254000"/>
                <a:chOff x="0" y="0"/>
                <a:chExt cx="236855" cy="254000"/>
              </a:xfrm>
            </p:grpSpPr>
            <p:sp>
              <p:nvSpPr>
                <p:cNvPr id="14" name="m-logo-onyx-mark-f0"/>
                <p:cNvSpPr/>
                <p:nvPr/>
              </p:nvSpPr>
              <p:spPr>
                <a:xfrm>
                  <a:off x="0" y="0"/>
                  <a:ext cx="236855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1390">
                      <a:moveTo>
                        <a:pt x="2000" y="0"/>
                      </a:moveTo>
                      <a:lnTo>
                        <a:pt x="3730" y="1000"/>
                      </a:lnTo>
                      <a:lnTo>
                        <a:pt x="2870" y="1390"/>
                      </a:lnTo>
                      <a:lnTo>
                        <a:pt x="2000" y="940"/>
                      </a:lnTo>
                      <a:lnTo>
                        <a:pt x="20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5" name="m-logo-onyx-mark-f1"/>
                <p:cNvSpPr/>
                <p:nvPr/>
              </p:nvSpPr>
              <p:spPr>
                <a:xfrm>
                  <a:off x="0" y="0"/>
                  <a:ext cx="2368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3000">
                      <a:moveTo>
                        <a:pt x="3730" y="1000"/>
                      </a:moveTo>
                      <a:lnTo>
                        <a:pt x="3730" y="3000"/>
                      </a:lnTo>
                      <a:lnTo>
                        <a:pt x="2870" y="2290"/>
                      </a:lnTo>
                      <a:lnTo>
                        <a:pt x="2870" y="1390"/>
                      </a:lnTo>
                      <a:lnTo>
                        <a:pt x="3730" y="100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6" name="m-logo-onyx-mark-f2"/>
                <p:cNvSpPr/>
                <p:nvPr/>
              </p:nvSpPr>
              <p:spPr>
                <a:xfrm>
                  <a:off x="0" y="0"/>
                  <a:ext cx="236855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4000">
                      <a:moveTo>
                        <a:pt x="3730" y="3000"/>
                      </a:moveTo>
                      <a:lnTo>
                        <a:pt x="2000" y="4000"/>
                      </a:lnTo>
                      <a:lnTo>
                        <a:pt x="2000" y="2740"/>
                      </a:lnTo>
                      <a:lnTo>
                        <a:pt x="2870" y="2290"/>
                      </a:lnTo>
                      <a:lnTo>
                        <a:pt x="3730" y="300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m-logo-onyx-mark-f3"/>
                <p:cNvSpPr/>
                <p:nvPr/>
              </p:nvSpPr>
              <p:spPr>
                <a:xfrm>
                  <a:off x="0" y="0"/>
                  <a:ext cx="127000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4000">
                      <a:moveTo>
                        <a:pt x="2000" y="4000"/>
                      </a:moveTo>
                      <a:lnTo>
                        <a:pt x="270" y="3000"/>
                      </a:lnTo>
                      <a:lnTo>
                        <a:pt x="1130" y="2290"/>
                      </a:lnTo>
                      <a:lnTo>
                        <a:pt x="2000" y="2740"/>
                      </a:lnTo>
                      <a:lnTo>
                        <a:pt x="2000" y="4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m-logo-onyx-mark-f4"/>
                <p:cNvSpPr/>
                <p:nvPr/>
              </p:nvSpPr>
              <p:spPr>
                <a:xfrm>
                  <a:off x="0" y="0"/>
                  <a:ext cx="717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30" h="3000">
                      <a:moveTo>
                        <a:pt x="270" y="3000"/>
                      </a:moveTo>
                      <a:lnTo>
                        <a:pt x="270" y="1000"/>
                      </a:lnTo>
                      <a:lnTo>
                        <a:pt x="1130" y="1390"/>
                      </a:lnTo>
                      <a:lnTo>
                        <a:pt x="1130" y="2290"/>
                      </a:lnTo>
                      <a:lnTo>
                        <a:pt x="270" y="300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m-logo-onyx-mark-f5"/>
                <p:cNvSpPr/>
                <p:nvPr/>
              </p:nvSpPr>
              <p:spPr>
                <a:xfrm>
                  <a:off x="0" y="0"/>
                  <a:ext cx="127000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1390">
                      <a:moveTo>
                        <a:pt x="270" y="1000"/>
                      </a:moveTo>
                      <a:lnTo>
                        <a:pt x="2000" y="0"/>
                      </a:lnTo>
                      <a:lnTo>
                        <a:pt x="2000" y="940"/>
                      </a:lnTo>
                      <a:lnTo>
                        <a:pt x="1130" y="1390"/>
                      </a:lnTo>
                      <a:lnTo>
                        <a:pt x="270" y="100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0" name="m-logo-onyx-mark-table"/>
                <p:cNvSpPr/>
                <p:nvPr/>
              </p:nvSpPr>
              <p:spPr>
                <a:xfrm>
                  <a:off x="0" y="0"/>
                  <a:ext cx="182245" cy="1739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70" h="2740">
                      <a:moveTo>
                        <a:pt x="2000" y="940"/>
                      </a:moveTo>
                      <a:lnTo>
                        <a:pt x="2870" y="1390"/>
                      </a:lnTo>
                      <a:lnTo>
                        <a:pt x="2870" y="2290"/>
                      </a:lnTo>
                      <a:lnTo>
                        <a:pt x="2000" y="2740"/>
                      </a:lnTo>
                      <a:lnTo>
                        <a:pt x="1130" y="2290"/>
                      </a:lnTo>
                      <a:lnTo>
                        <a:pt x="1130" y="1390"/>
                      </a:lnTo>
                      <a:lnTo>
                        <a:pt x="2000" y="94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2" name="m-logo-onyx-word"/>
              <p:cNvSpPr txBox="1"/>
              <p:nvPr/>
            </p:nvSpPr>
            <p:spPr>
              <a:xfrm>
                <a:off x="317500" y="42926"/>
                <a:ext cx="960438" cy="166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00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000" dirty="0"/>
              </a:p>
            </p:txBody>
          </p:sp>
        </p:grpSp>
      </p:grpSp>
      <p:sp>
        <p:nvSpPr>
          <p:cNvPr id="25" name="cm-kicker"/>
          <p:cNvSpPr txBox="1"/>
          <p:nvPr/>
        </p:nvSpPr>
        <p:spPr>
          <a:xfrm>
            <a:off x="889000" y="662330"/>
            <a:ext cx="1373188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SIDE BY SIDE</a:t>
            </a:r>
            <a:endParaRPr lang="en-US" sz="1200" dirty="0"/>
          </a:p>
        </p:txBody>
      </p:sp>
      <p:sp>
        <p:nvSpPr>
          <p:cNvPr id="26" name="cm-title"/>
          <p:cNvSpPr>
            <a:spLocks noGrp="1"/>
          </p:cNvSpPr>
          <p:nvPr>
            <p:ph type="title"/>
          </p:nvPr>
        </p:nvSpPr>
        <p:spPr>
          <a:xfrm>
            <a:off x="889000" y="1149604"/>
            <a:ext cx="12938125" cy="4886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Compare engines on </a:t>
            </a:r>
            <a:r>
              <a:rPr lang="en-US" sz="40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the same models.</a:t>
            </a:r>
            <a:endParaRPr lang="en-US" sz="4000" dirty="0"/>
          </a:p>
        </p:txBody>
      </p:sp>
      <p:grpSp>
        <p:nvGrpSpPr>
          <p:cNvPr id="33" name="cm-code"/>
          <p:cNvGrpSpPr/>
          <p:nvPr/>
        </p:nvGrpSpPr>
        <p:grpSpPr>
          <a:xfrm>
            <a:off x="889000" y="2146300"/>
            <a:ext cx="10414000" cy="2190750"/>
            <a:chOff x="0" y="0"/>
            <a:chExt cx="10414000" cy="2190750"/>
          </a:xfrm>
        </p:grpSpPr>
        <p:sp>
          <p:nvSpPr>
            <p:cNvPr id="27" name="cm-code-bg"/>
            <p:cNvSpPr/>
            <p:nvPr/>
          </p:nvSpPr>
          <p:spPr>
            <a:xfrm>
              <a:off x="12700" y="12700"/>
              <a:ext cx="10388600" cy="1917700"/>
            </a:xfrm>
            <a:prstGeom prst="roundRect">
              <a:avLst>
                <a:gd name="adj" fmla="val 5629"/>
              </a:avLst>
            </a:prstGeom>
            <a:solidFill>
              <a:srgbClr val="050506"/>
            </a:solidFill>
            <a:ln w="12700">
              <a:solidFill>
                <a:srgbClr val="2C2D33"/>
              </a:solidFill>
            </a:ln>
          </p:spPr>
        </p:sp>
        <p:sp>
          <p:nvSpPr>
            <p:cNvPr id="28" name="cm-code-dot0"/>
            <p:cNvSpPr/>
            <p:nvPr/>
          </p:nvSpPr>
          <p:spPr>
            <a:xfrm>
              <a:off x="152400" y="209550"/>
              <a:ext cx="76200" cy="762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</p:sp>
        <p:sp>
          <p:nvSpPr>
            <p:cNvPr id="29" name="cm-code-dot1"/>
            <p:cNvSpPr/>
            <p:nvPr/>
          </p:nvSpPr>
          <p:spPr>
            <a:xfrm>
              <a:off x="292100" y="209550"/>
              <a:ext cx="76200" cy="76200"/>
            </a:xfrm>
            <a:prstGeom prst="ellipse">
              <a:avLst/>
            </a:prstGeom>
            <a:solidFill>
              <a:srgbClr val="FEBC2E"/>
            </a:solidFill>
            <a:ln>
              <a:noFill/>
            </a:ln>
          </p:spPr>
        </p:sp>
        <p:sp>
          <p:nvSpPr>
            <p:cNvPr id="30" name="cm-code-dot2"/>
            <p:cNvSpPr/>
            <p:nvPr/>
          </p:nvSpPr>
          <p:spPr>
            <a:xfrm>
              <a:off x="431800" y="209550"/>
              <a:ext cx="76200" cy="762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</p:sp>
        <p:sp>
          <p:nvSpPr>
            <p:cNvPr id="31" name="cm-code-title"/>
            <p:cNvSpPr txBox="1"/>
            <p:nvPr/>
          </p:nvSpPr>
          <p:spPr>
            <a:xfrm>
              <a:off x="635000" y="125501"/>
              <a:ext cx="882650" cy="1475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452"/>
                </a:lnSpc>
                <a:buNone/>
              </a:pPr>
              <a:r>
                <a:rPr lang="en-US" sz="1100" dirty="0">
                  <a:solidFill>
                    <a:srgbClr val="B9B5C0"/>
                  </a:solidFill>
                  <a:latin typeface="JetBrains Mono"/>
                  <a:ea typeface="JetBrains Mono"/>
                  <a:cs typeface="JetBrains Mono"/>
                </a:rPr>
                <a:t>terminal</a:t>
              </a:r>
              <a:endParaRPr lang="en-US" sz="1100" dirty="0"/>
            </a:p>
          </p:txBody>
        </p:sp>
        <p:sp>
          <p:nvSpPr>
            <p:cNvPr id="32" name="cm-code-code"/>
            <p:cNvSpPr txBox="1"/>
            <p:nvPr/>
          </p:nvSpPr>
          <p:spPr>
            <a:xfrm>
              <a:off x="177800" y="524510"/>
              <a:ext cx="10058400" cy="12407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FF2D55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1EEE9"/>
                  </a:solidFill>
                  <a:latin typeface="JetBrains Mono"/>
                  <a:ea typeface="JetBrains Mono"/>
                  <a:cs typeface="JetBrains Mono"/>
                </a:rPr>
                <a:t>jx-runtime dual-engine plan</a:t>
              </a:r>
              <a:r>
                <a:rPr lang="en-US" sz="1500" dirty="0">
                  <a:solidFill>
                    <a:srgbClr val="7D7987"/>
                  </a:solidFill>
                  <a:latin typeface="JetBrains Mono"/>
                  <a:ea typeface="JetBrains Mono"/>
                  <a:cs typeface="JetBrains Mono"/>
                </a:rPr>
                <a:t>      # prints, changes nothing</a:t>
              </a: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FF2D55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1EEE9"/>
                  </a:solidFill>
                  <a:latin typeface="JetBrains Mono"/>
                  <a:ea typeface="JetBrains Mono"/>
                  <a:cs typeface="JetBrains Mono"/>
                </a:rPr>
                <a:t>jx-runtime dual-engine setup --yes</a:t>
              </a: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FF2D55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1EEE9"/>
                  </a:solidFill>
                  <a:latin typeface="JetBrains Mono"/>
                  <a:ea typeface="JetBrains Mono"/>
                  <a:cs typeface="JetBrains Mono"/>
                </a:rPr>
                <a:t>jx-runtime serve</a:t>
              </a:r>
              <a:r>
                <a:rPr lang="en-US" sz="1500" dirty="0">
                  <a:solidFill>
                    <a:srgbClr val="7D7987"/>
                  </a:solidFill>
                  <a:latin typeface="JetBrains Mono"/>
                  <a:ea typeface="JetBrains Mono"/>
                  <a:cs typeface="JetBrains Mono"/>
                </a:rPr>
                <a:t>                                 # :8712  llama.cpp</a:t>
              </a:r>
              <a:endParaRPr lang="en-US" sz="1500" dirty="0"/>
            </a:p>
            <a:p>
              <a:pPr algn="l">
                <a:lnSpc>
                  <a:spcPts val="1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rgbClr val="FF2D55"/>
                  </a:solidFill>
                  <a:latin typeface="JetBrains Mono"/>
                  <a:ea typeface="JetBrains Mono"/>
                  <a:cs typeface="JetBrains Mono"/>
                </a:rPr>
                <a:t>$ </a:t>
              </a:r>
              <a:r>
                <a:rPr lang="en-US" sz="1500" dirty="0">
                  <a:solidFill>
                    <a:srgbClr val="F1EEE9"/>
                  </a:solidFill>
                  <a:latin typeface="JetBrains Mono"/>
                  <a:ea typeface="JetBrains Mono"/>
                  <a:cs typeface="JetBrains Mono"/>
                </a:rPr>
                <a:t>jx-runtime serve --data-dir ~/.jx-runtime-onyx</a:t>
              </a:r>
              <a:r>
                <a:rPr lang="en-US" sz="1500" dirty="0">
                  <a:solidFill>
                    <a:srgbClr val="99F6E4"/>
                  </a:solidFill>
                  <a:latin typeface="JetBrains Mono"/>
                  <a:ea typeface="JetBrains Mono"/>
                  <a:cs typeface="JetBrains Mono"/>
                </a:rPr>
                <a:t>   # :8713  Onyx Engine</a:t>
              </a:r>
              <a:endParaRPr lang="en-US" sz="1500" dirty="0"/>
            </a:p>
          </p:txBody>
        </p:sp>
      </p:grpSp>
      <p:sp>
        <p:nvSpPr>
          <p:cNvPr id="34" name="cm-note"/>
          <p:cNvSpPr txBox="1"/>
          <p:nvPr/>
        </p:nvSpPr>
        <p:spPr>
          <a:xfrm>
            <a:off x="889000" y="4384802"/>
            <a:ext cx="10414000" cy="2760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The secondary borrows the primary's model folders. Keys, pairing and the audit log are per instance and never copied.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me-code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m-lines-set"/>
          <p:cNvGrpSpPr/>
          <p:nvPr/>
        </p:nvGrpSpPr>
        <p:grpSpPr>
          <a:xfrm>
            <a:off x="0" y="76200"/>
            <a:ext cx="12192000" cy="6610350"/>
            <a:chOff x="0" y="0"/>
            <a:chExt cx="12192000" cy="6610350"/>
          </a:xfrm>
        </p:grpSpPr>
        <p:pic>
          <p:nvPicPr>
            <p:cNvPr id="2" name="m-lines" descr="m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10350"/>
            </a:xfrm>
            <a:prstGeom prst="rect">
              <a:avLst/>
            </a:prstGeom>
          </p:spPr>
        </p:pic>
      </p:grpSp>
      <p:sp>
        <p:nvSpPr>
          <p:cNvPr id="4" name="m-num"/>
          <p:cNvSpPr txBox="1"/>
          <p:nvPr/>
        </p:nvSpPr>
        <p:spPr>
          <a:xfrm>
            <a:off x="11112500" y="6185154"/>
            <a:ext cx="323850" cy="1775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B9B5C0"/>
                </a:solidFill>
                <a:latin typeface="JetBrains Mono"/>
                <a:ea typeface="JetBrains Mono"/>
                <a:cs typeface="JetBrains Mono"/>
              </a:rPr>
              <a:t>6</a:t>
            </a:r>
            <a:endParaRPr lang="en-US" sz="1200" dirty="0"/>
          </a:p>
        </p:txBody>
      </p:sp>
      <p:grpSp>
        <p:nvGrpSpPr>
          <p:cNvPr id="24" name="m-logo"/>
          <p:cNvGrpSpPr/>
          <p:nvPr/>
        </p:nvGrpSpPr>
        <p:grpSpPr>
          <a:xfrm>
            <a:off x="889000" y="6108700"/>
            <a:ext cx="2514600" cy="254000"/>
            <a:chOff x="0" y="0"/>
            <a:chExt cx="2514600" cy="254000"/>
          </a:xfrm>
        </p:grpSpPr>
        <p:grpSp>
          <p:nvGrpSpPr>
            <p:cNvPr id="12" name="m-logo-jx"/>
            <p:cNvGrpSpPr/>
            <p:nvPr/>
          </p:nvGrpSpPr>
          <p:grpSpPr>
            <a:xfrm>
              <a:off x="0" y="0"/>
              <a:ext cx="1098550" cy="254000"/>
              <a:chOff x="0" y="0"/>
              <a:chExt cx="1098550" cy="254000"/>
            </a:xfrm>
          </p:grpSpPr>
          <p:grpSp>
            <p:nvGrpSpPr>
              <p:cNvPr id="10" name="m-logo-jx-mark"/>
              <p:cNvGrpSpPr/>
              <p:nvPr/>
            </p:nvGrpSpPr>
            <p:grpSpPr>
              <a:xfrm>
                <a:off x="0" y="0"/>
                <a:ext cx="254000" cy="254000"/>
                <a:chOff x="0" y="0"/>
                <a:chExt cx="254000" cy="254000"/>
              </a:xfrm>
            </p:grpSpPr>
            <p:sp>
              <p:nvSpPr>
                <p:cNvPr id="5" name="m-logo-jx-mark-tile"/>
                <p:cNvSpPr/>
                <p:nvPr/>
              </p:nvSpPr>
              <p:spPr>
                <a:xfrm>
                  <a:off x="12700" y="12700"/>
                  <a:ext cx="228600" cy="228600"/>
                </a:xfrm>
                <a:prstGeom prst="roundRect">
                  <a:avLst>
                    <a:gd name="adj" fmla="val 22222"/>
                  </a:avLst>
                </a:prstGeom>
                <a:solidFill>
                  <a:srgbClr val="17171B"/>
                </a:solidFill>
                <a:ln w="12700">
                  <a:solidFill>
                    <a:srgbClr val="3A3842"/>
                  </a:solidFill>
                </a:ln>
              </p:spPr>
            </p:sp>
            <p:sp>
              <p:nvSpPr>
                <p:cNvPr id="6" name="m-logo-jx-mark-rail"/>
                <p:cNvSpPr/>
                <p:nvPr/>
              </p:nvSpPr>
              <p:spPr>
                <a:xfrm>
                  <a:off x="50800" y="196850"/>
                  <a:ext cx="152400" cy="127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7" name="m-logo-jx-mark-halo"/>
                <p:cNvSpPr/>
                <p:nvPr/>
              </p:nvSpPr>
              <p:spPr>
                <a:xfrm>
                  <a:off x="177800" y="25400"/>
                  <a:ext cx="57150" cy="57150"/>
                </a:xfrm>
                <a:prstGeom prst="ellipse">
                  <a:avLst/>
                </a:prstGeom>
                <a:solidFill>
                  <a:srgbClr val="FF2D55">
                    <a:alpha val="21961"/>
                  </a:srgbClr>
                </a:solidFill>
                <a:ln>
                  <a:noFill/>
                </a:ln>
              </p:spPr>
            </p:sp>
            <p:sp>
              <p:nvSpPr>
                <p:cNvPr id="8" name="m-logo-jx-mark-led"/>
                <p:cNvSpPr/>
                <p:nvPr/>
              </p:nvSpPr>
              <p:spPr>
                <a:xfrm>
                  <a:off x="190500" y="38100"/>
                  <a:ext cx="25400" cy="25400"/>
                </a:xfrm>
                <a:prstGeom prst="ellipse">
                  <a:avLst/>
                </a:prstGeom>
                <a:solidFill>
                  <a:srgbClr val="FF2D55"/>
                </a:solidFill>
                <a:ln>
                  <a:noFill/>
                </a:ln>
              </p:spPr>
            </p:sp>
            <p:sp>
              <p:nvSpPr>
                <p:cNvPr id="9" name="m-logo-jx-mark-jx"/>
                <p:cNvSpPr txBox="1"/>
                <p:nvPr/>
              </p:nvSpPr>
              <p:spPr>
                <a:xfrm>
                  <a:off x="38100" y="29083"/>
                  <a:ext cx="342900" cy="1296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algn="l">
                    <a:lnSpc>
                      <a:spcPts val="1179"/>
                    </a:lnSpc>
                    <a:buNone/>
                  </a:pPr>
                  <a:r>
                    <a:rPr lang="en-US" sz="900" b="1" dirty="0">
                      <a:solidFill>
                        <a:srgbClr val="F1EEE9"/>
                      </a:solidFill>
                      <a:latin typeface="Archivo"/>
                      <a:ea typeface="Archivo"/>
                      <a:cs typeface="Archivo"/>
                    </a:rPr>
                    <a:t>JX</a:t>
                  </a:r>
                  <a:endParaRPr lang="en-US" sz="900" dirty="0"/>
                </a:p>
              </p:txBody>
            </p:sp>
          </p:grpSp>
          <p:sp>
            <p:nvSpPr>
              <p:cNvPr id="11" name="m-logo-jx-word"/>
              <p:cNvSpPr txBox="1"/>
              <p:nvPr/>
            </p:nvSpPr>
            <p:spPr>
              <a:xfrm>
                <a:off x="317500" y="30988"/>
                <a:ext cx="976312" cy="17856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r>
                  <a:rPr lang="en-US" sz="1000" b="1" dirty="0">
                    <a:solidFill>
                      <a:srgbClr val="B9B5C0"/>
                    </a:solidFill>
                    <a:latin typeface="Archivo"/>
                    <a:ea typeface="Archivo"/>
                    <a:cs typeface="Archivo"/>
                  </a:rPr>
                  <a:t> Runtime</a:t>
                </a:r>
                <a:endParaRPr lang="en-US" sz="1000" dirty="0"/>
              </a:p>
            </p:txBody>
          </p:sp>
        </p:grpSp>
        <p:sp>
          <p:nvSpPr>
            <p:cNvPr id="13" name="m-logo-plus"/>
            <p:cNvSpPr txBox="1"/>
            <p:nvPr/>
          </p:nvSpPr>
          <p:spPr>
            <a:xfrm>
              <a:off x="1212850" y="-26511"/>
              <a:ext cx="339725" cy="1979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1810"/>
                </a:lnSpc>
                <a:buNone/>
              </a:pPr>
              <a:r>
                <a:rPr lang="en-US" sz="12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+</a:t>
              </a:r>
              <a:endParaRPr lang="en-US" sz="1250" dirty="0"/>
            </a:p>
          </p:txBody>
        </p:sp>
        <p:grpSp>
          <p:nvGrpSpPr>
            <p:cNvPr id="23" name="m-logo-onyx"/>
            <p:cNvGrpSpPr/>
            <p:nvPr/>
          </p:nvGrpSpPr>
          <p:grpSpPr>
            <a:xfrm>
              <a:off x="1428750" y="0"/>
              <a:ext cx="1085850" cy="254000"/>
              <a:chOff x="0" y="0"/>
              <a:chExt cx="1085850" cy="254000"/>
            </a:xfrm>
          </p:grpSpPr>
          <p:grpSp>
            <p:nvGrpSpPr>
              <p:cNvPr id="21" name="m-logo-onyx-mark"/>
              <p:cNvGrpSpPr/>
              <p:nvPr/>
            </p:nvGrpSpPr>
            <p:grpSpPr>
              <a:xfrm>
                <a:off x="0" y="0"/>
                <a:ext cx="236855" cy="254000"/>
                <a:chOff x="0" y="0"/>
                <a:chExt cx="236855" cy="254000"/>
              </a:xfrm>
            </p:grpSpPr>
            <p:sp>
              <p:nvSpPr>
                <p:cNvPr id="14" name="m-logo-onyx-mark-f0"/>
                <p:cNvSpPr/>
                <p:nvPr/>
              </p:nvSpPr>
              <p:spPr>
                <a:xfrm>
                  <a:off x="0" y="0"/>
                  <a:ext cx="236855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1390">
                      <a:moveTo>
                        <a:pt x="2000" y="0"/>
                      </a:moveTo>
                      <a:lnTo>
                        <a:pt x="3730" y="1000"/>
                      </a:lnTo>
                      <a:lnTo>
                        <a:pt x="2870" y="1390"/>
                      </a:lnTo>
                      <a:lnTo>
                        <a:pt x="2000" y="940"/>
                      </a:lnTo>
                      <a:lnTo>
                        <a:pt x="2000" y="0"/>
                      </a:lnTo>
                      <a:close/>
                    </a:path>
                  </a:pathLst>
                </a:custGeom>
                <a:solidFill>
                  <a:srgbClr val="1D4A47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15" name="m-logo-onyx-mark-f1"/>
                <p:cNvSpPr/>
                <p:nvPr/>
              </p:nvSpPr>
              <p:spPr>
                <a:xfrm>
                  <a:off x="0" y="0"/>
                  <a:ext cx="2368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3000">
                      <a:moveTo>
                        <a:pt x="3730" y="1000"/>
                      </a:moveTo>
                      <a:lnTo>
                        <a:pt x="3730" y="3000"/>
                      </a:lnTo>
                      <a:lnTo>
                        <a:pt x="2870" y="2290"/>
                      </a:lnTo>
                      <a:lnTo>
                        <a:pt x="2870" y="1390"/>
                      </a:lnTo>
                      <a:lnTo>
                        <a:pt x="3730" y="1000"/>
                      </a:lnTo>
                      <a:close/>
                    </a:path>
                  </a:pathLst>
                </a:custGeom>
                <a:solidFill>
                  <a:srgbClr val="16262B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6" name="m-logo-onyx-mark-f2"/>
                <p:cNvSpPr/>
                <p:nvPr/>
              </p:nvSpPr>
              <p:spPr>
                <a:xfrm>
                  <a:off x="0" y="0"/>
                  <a:ext cx="236855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730" h="4000">
                      <a:moveTo>
                        <a:pt x="3730" y="3000"/>
                      </a:moveTo>
                      <a:lnTo>
                        <a:pt x="2000" y="4000"/>
                      </a:lnTo>
                      <a:lnTo>
                        <a:pt x="2000" y="2740"/>
                      </a:lnTo>
                      <a:lnTo>
                        <a:pt x="2870" y="2290"/>
                      </a:lnTo>
                      <a:lnTo>
                        <a:pt x="3730" y="3000"/>
                      </a:lnTo>
                      <a:close/>
                    </a:path>
                  </a:pathLst>
                </a:custGeom>
                <a:solidFill>
                  <a:srgbClr val="0E1518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7" name="m-logo-onyx-mark-f3"/>
                <p:cNvSpPr/>
                <p:nvPr/>
              </p:nvSpPr>
              <p:spPr>
                <a:xfrm>
                  <a:off x="0" y="0"/>
                  <a:ext cx="127000" cy="2540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4000">
                      <a:moveTo>
                        <a:pt x="2000" y="4000"/>
                      </a:moveTo>
                      <a:lnTo>
                        <a:pt x="270" y="3000"/>
                      </a:lnTo>
                      <a:lnTo>
                        <a:pt x="1130" y="2290"/>
                      </a:lnTo>
                      <a:lnTo>
                        <a:pt x="2000" y="2740"/>
                      </a:lnTo>
                      <a:lnTo>
                        <a:pt x="2000" y="4000"/>
                      </a:lnTo>
                      <a:close/>
                    </a:path>
                  </a:pathLst>
                </a:custGeom>
                <a:solidFill>
                  <a:srgbClr val="070B0D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8" name="m-logo-onyx-mark-f4"/>
                <p:cNvSpPr/>
                <p:nvPr/>
              </p:nvSpPr>
              <p:spPr>
                <a:xfrm>
                  <a:off x="0" y="0"/>
                  <a:ext cx="71755" cy="190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30" h="3000">
                      <a:moveTo>
                        <a:pt x="270" y="3000"/>
                      </a:moveTo>
                      <a:lnTo>
                        <a:pt x="270" y="1000"/>
                      </a:lnTo>
                      <a:lnTo>
                        <a:pt x="1130" y="1390"/>
                      </a:lnTo>
                      <a:lnTo>
                        <a:pt x="1130" y="2290"/>
                      </a:lnTo>
                      <a:lnTo>
                        <a:pt x="270" y="3000"/>
                      </a:lnTo>
                      <a:close/>
                    </a:path>
                  </a:pathLst>
                </a:custGeom>
                <a:solidFill>
                  <a:srgbClr val="0B1114"/>
                </a:solidFill>
                <a:ln w="6350">
                  <a:solidFill>
                    <a:srgbClr val="2DD4BF">
                      <a:alpha val="33333"/>
                    </a:srgbClr>
                  </a:solidFill>
                </a:ln>
              </p:spPr>
            </p:sp>
            <p:sp>
              <p:nvSpPr>
                <p:cNvPr id="19" name="m-logo-onyx-mark-f5"/>
                <p:cNvSpPr/>
                <p:nvPr/>
              </p:nvSpPr>
              <p:spPr>
                <a:xfrm>
                  <a:off x="0" y="0"/>
                  <a:ext cx="127000" cy="882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1390">
                      <a:moveTo>
                        <a:pt x="270" y="1000"/>
                      </a:moveTo>
                      <a:lnTo>
                        <a:pt x="2000" y="0"/>
                      </a:lnTo>
                      <a:lnTo>
                        <a:pt x="2000" y="940"/>
                      </a:lnTo>
                      <a:lnTo>
                        <a:pt x="1130" y="1390"/>
                      </a:lnTo>
                      <a:lnTo>
                        <a:pt x="270" y="1000"/>
                      </a:lnTo>
                      <a:close/>
                    </a:path>
                  </a:pathLst>
                </a:custGeom>
                <a:solidFill>
                  <a:srgbClr val="1A2E33"/>
                </a:solidFill>
                <a:ln w="6350">
                  <a:solidFill>
                    <a:srgbClr val="2DD4BF"/>
                  </a:solidFill>
                </a:ln>
              </p:spPr>
            </p:sp>
            <p:sp>
              <p:nvSpPr>
                <p:cNvPr id="20" name="m-logo-onyx-mark-table"/>
                <p:cNvSpPr/>
                <p:nvPr/>
              </p:nvSpPr>
              <p:spPr>
                <a:xfrm>
                  <a:off x="0" y="0"/>
                  <a:ext cx="182245" cy="1739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870" h="2740">
                      <a:moveTo>
                        <a:pt x="2000" y="940"/>
                      </a:moveTo>
                      <a:lnTo>
                        <a:pt x="2870" y="1390"/>
                      </a:lnTo>
                      <a:lnTo>
                        <a:pt x="2870" y="2290"/>
                      </a:lnTo>
                      <a:lnTo>
                        <a:pt x="2000" y="2740"/>
                      </a:lnTo>
                      <a:lnTo>
                        <a:pt x="1130" y="2290"/>
                      </a:lnTo>
                      <a:lnTo>
                        <a:pt x="1130" y="1390"/>
                      </a:lnTo>
                      <a:lnTo>
                        <a:pt x="2000" y="940"/>
                      </a:lnTo>
                      <a:close/>
                    </a:path>
                  </a:pathLst>
                </a:custGeom>
                <a:solidFill>
                  <a:srgbClr val="0A1013"/>
                </a:solidFill>
                <a:ln w="6350">
                  <a:solidFill>
                    <a:srgbClr val="99F6E4"/>
                  </a:solidFill>
                </a:ln>
              </p:spPr>
            </p:sp>
          </p:grpSp>
          <p:sp>
            <p:nvSpPr>
              <p:cNvPr id="22" name="m-logo-onyx-word"/>
              <p:cNvSpPr txBox="1"/>
              <p:nvPr/>
            </p:nvSpPr>
            <p:spPr>
              <a:xfrm>
                <a:off x="317500" y="42926"/>
                <a:ext cx="960438" cy="1666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dirty="0">
                    <a:solidFill>
                      <a:srgbClr val="E6F2F1"/>
                    </a:solidFill>
                    <a:latin typeface="Space Grotesk"/>
                    <a:ea typeface="Space Grotesk"/>
                    <a:cs typeface="Space Grotesk"/>
                  </a:rPr>
                  <a:t>Onyx</a:t>
                </a:r>
                <a:r>
                  <a:rPr lang="en-US" sz="1000" b="1" dirty="0">
                    <a:solidFill>
                      <a:srgbClr val="9AAEB2"/>
                    </a:solidFill>
                    <a:latin typeface="Space Grotesk"/>
                    <a:ea typeface="Space Grotesk"/>
                    <a:cs typeface="Space Grotesk"/>
                  </a:rPr>
                  <a:t> Engine</a:t>
                </a:r>
                <a:endParaRPr lang="en-US" sz="1000" dirty="0"/>
              </a:p>
            </p:txBody>
          </p:sp>
        </p:grpSp>
      </p:grpSp>
      <p:sp>
        <p:nvSpPr>
          <p:cNvPr id="25" name="sc-kicker"/>
          <p:cNvSpPr txBox="1"/>
          <p:nvPr/>
        </p:nvSpPr>
        <p:spPr>
          <a:xfrm>
            <a:off x="889000" y="662330"/>
            <a:ext cx="1603375" cy="182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34"/>
              </a:lnSpc>
              <a:buNone/>
            </a:pPr>
            <a:r>
              <a:rPr lang="en-US" sz="1200" dirty="0">
                <a:solidFill>
                  <a:srgbClr val="FF2D55"/>
                </a:solidFill>
                <a:latin typeface="JetBrains Mono"/>
                <a:ea typeface="JetBrains Mono"/>
                <a:cs typeface="JetBrains Mono"/>
              </a:rPr>
              <a:t>NO SECOND COPY</a:t>
            </a:r>
            <a:endParaRPr lang="en-US" sz="1200" dirty="0"/>
          </a:p>
        </p:txBody>
      </p:sp>
      <p:sp>
        <p:nvSpPr>
          <p:cNvPr id="26" name="sc-title"/>
          <p:cNvSpPr>
            <a:spLocks noGrp="1"/>
          </p:cNvSpPr>
          <p:nvPr>
            <p:ph type="title"/>
          </p:nvPr>
        </p:nvSpPr>
        <p:spPr>
          <a:xfrm>
            <a:off x="889000" y="1163625"/>
            <a:ext cx="13160375" cy="582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Same contract. </a:t>
            </a:r>
            <a:r>
              <a:rPr lang="en-US" sz="48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Same code path.</a:t>
            </a:r>
            <a:endParaRPr lang="en-US" sz="4800" dirty="0"/>
          </a:p>
        </p:txBody>
      </p:sp>
      <p:sp>
        <p:nvSpPr>
          <p:cNvPr id="27" name="sc-c0"/>
          <p:cNvSpPr/>
          <p:nvPr/>
        </p:nvSpPr>
        <p:spPr>
          <a:xfrm>
            <a:off x="901700" y="2457450"/>
            <a:ext cx="10388600" cy="647700"/>
          </a:xfrm>
          <a:prstGeom prst="roundRect">
            <a:avLst>
              <a:gd name="adj" fmla="val 16667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28" name="sc-k0"/>
          <p:cNvSpPr txBox="1"/>
          <p:nvPr/>
        </p:nvSpPr>
        <p:spPr>
          <a:xfrm>
            <a:off x="1143000" y="2596642"/>
            <a:ext cx="1162050" cy="260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12"/>
              </a:lnSpc>
              <a:buNone/>
            </a:pPr>
            <a:r>
              <a:rPr lang="en-US" sz="16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/health</a:t>
            </a:r>
            <a:endParaRPr lang="en-US" sz="1600" dirty="0"/>
          </a:p>
        </p:txBody>
      </p:sp>
      <p:sp>
        <p:nvSpPr>
          <p:cNvPr id="29" name="sc-d0"/>
          <p:cNvSpPr txBox="1"/>
          <p:nvPr/>
        </p:nvSpPr>
        <p:spPr>
          <a:xfrm>
            <a:off x="3048000" y="2561272"/>
            <a:ext cx="7223125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Polled until ready. For onyx-engine, ready means the model is loaded.</a:t>
            </a:r>
            <a:endParaRPr lang="en-US" sz="1500" dirty="0"/>
          </a:p>
        </p:txBody>
      </p:sp>
      <p:sp>
        <p:nvSpPr>
          <p:cNvPr id="30" name="sc-c1"/>
          <p:cNvSpPr/>
          <p:nvPr/>
        </p:nvSpPr>
        <p:spPr>
          <a:xfrm>
            <a:off x="901700" y="3282950"/>
            <a:ext cx="10388600" cy="647700"/>
          </a:xfrm>
          <a:prstGeom prst="roundRect">
            <a:avLst>
              <a:gd name="adj" fmla="val 16667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1" name="sc-k1"/>
          <p:cNvSpPr txBox="1"/>
          <p:nvPr/>
        </p:nvSpPr>
        <p:spPr>
          <a:xfrm>
            <a:off x="1143000" y="3422142"/>
            <a:ext cx="1041400" cy="273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12"/>
              </a:lnSpc>
              <a:buNone/>
            </a:pPr>
            <a:r>
              <a:rPr lang="en-US" sz="16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/props</a:t>
            </a:r>
            <a:endParaRPr lang="en-US" sz="1600" dirty="0"/>
          </a:p>
        </p:txBody>
      </p:sp>
      <p:sp>
        <p:nvSpPr>
          <p:cNvPr id="32" name="sc-d1"/>
          <p:cNvSpPr txBox="1"/>
          <p:nvPr/>
        </p:nvSpPr>
        <p:spPr>
          <a:xfrm>
            <a:off x="3048000" y="3388296"/>
            <a:ext cx="6167438" cy="2756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Context, template hash and build info, read once after start.</a:t>
            </a:r>
            <a:endParaRPr lang="en-US" sz="1500" dirty="0"/>
          </a:p>
        </p:txBody>
      </p:sp>
      <p:sp>
        <p:nvSpPr>
          <p:cNvPr id="33" name="sc-c2"/>
          <p:cNvSpPr/>
          <p:nvPr/>
        </p:nvSpPr>
        <p:spPr>
          <a:xfrm>
            <a:off x="901700" y="4108450"/>
            <a:ext cx="10388600" cy="647700"/>
          </a:xfrm>
          <a:prstGeom prst="roundRect">
            <a:avLst>
              <a:gd name="adj" fmla="val 16667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4" name="sc-k2"/>
          <p:cNvSpPr txBox="1"/>
          <p:nvPr/>
        </p:nvSpPr>
        <p:spPr>
          <a:xfrm>
            <a:off x="1143000" y="4247642"/>
            <a:ext cx="914400" cy="2608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12"/>
              </a:lnSpc>
              <a:buNone/>
            </a:pPr>
            <a:r>
              <a:rPr lang="en-US" sz="16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/v1/*</a:t>
            </a:r>
            <a:endParaRPr lang="en-US" sz="1600" dirty="0"/>
          </a:p>
        </p:txBody>
      </p:sp>
      <p:sp>
        <p:nvSpPr>
          <p:cNvPr id="35" name="sc-d2"/>
          <p:cNvSpPr txBox="1"/>
          <p:nvPr/>
        </p:nvSpPr>
        <p:spPr>
          <a:xfrm>
            <a:off x="3048000" y="4212272"/>
            <a:ext cx="8461375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Chat, completions and embeddings proxied straight through, streaming included.</a:t>
            </a:r>
            <a:endParaRPr lang="en-US" sz="1500" dirty="0"/>
          </a:p>
        </p:txBody>
      </p:sp>
      <p:sp>
        <p:nvSpPr>
          <p:cNvPr id="36" name="sc-c3"/>
          <p:cNvSpPr/>
          <p:nvPr/>
        </p:nvSpPr>
        <p:spPr>
          <a:xfrm>
            <a:off x="901700" y="4933950"/>
            <a:ext cx="10388600" cy="647700"/>
          </a:xfrm>
          <a:prstGeom prst="roundRect">
            <a:avLst>
              <a:gd name="adj" fmla="val 16667"/>
            </a:avLst>
          </a:prstGeom>
          <a:solidFill>
            <a:srgbClr val="151619"/>
          </a:solidFill>
          <a:ln w="12700">
            <a:solidFill>
              <a:srgbClr val="2C2D33"/>
            </a:solidFill>
          </a:ln>
        </p:spPr>
      </p:sp>
      <p:sp>
        <p:nvSpPr>
          <p:cNvPr id="37" name="sc-k3"/>
          <p:cNvSpPr txBox="1"/>
          <p:nvPr/>
        </p:nvSpPr>
        <p:spPr>
          <a:xfrm>
            <a:off x="1143000" y="5047742"/>
            <a:ext cx="1162050" cy="2354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12"/>
              </a:lnSpc>
              <a:buNone/>
            </a:pPr>
            <a:r>
              <a:rPr lang="en-US" sz="1600" dirty="0">
                <a:solidFill>
                  <a:srgbClr val="2DD4BF"/>
                </a:solidFill>
                <a:latin typeface="JetBrains Mono"/>
                <a:ea typeface="JetBrains Mono"/>
                <a:cs typeface="JetBrains Mono"/>
              </a:rPr>
              <a:t>restart</a:t>
            </a:r>
            <a:endParaRPr lang="en-US" sz="1600" dirty="0"/>
          </a:p>
        </p:txBody>
      </p:sp>
      <p:sp>
        <p:nvSpPr>
          <p:cNvPr id="38" name="sc-d3"/>
          <p:cNvSpPr txBox="1"/>
          <p:nvPr/>
        </p:nvSpPr>
        <p:spPr>
          <a:xfrm>
            <a:off x="3048000" y="5039296"/>
            <a:ext cx="8247062" cy="2756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182"/>
              </a:lnSpc>
              <a:buNone/>
            </a:pPr>
            <a:r>
              <a:rPr lang="en-US" sz="1500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Crash detection and failure classification are the llama.cpp adapter's own code.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rt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d-glow"/>
          <p:cNvSpPr/>
          <p:nvPr/>
        </p:nvSpPr>
        <p:spPr>
          <a:xfrm>
            <a:off x="-1905000" y="1270000"/>
            <a:ext cx="11430000" cy="11430000"/>
          </a:xfrm>
          <a:prstGeom prst="rect">
            <a:avLst/>
          </a:prstGeom>
          <a:gradFill rotWithShape="1">
            <a:gsLst>
              <a:gs pos="0">
                <a:srgbClr val="FF2D55">
                  <a:alpha val="31373"/>
                </a:srgbClr>
              </a:gs>
              <a:gs pos="42426">
                <a:srgbClr val="FF2D55">
                  <a:alpha val="6275"/>
                </a:srgbClr>
              </a:gs>
              <a:gs pos="70711">
                <a:srgbClr val="FF2D55">
                  <a:alpha val="0"/>
                </a:srgbClr>
              </a:gs>
              <a:gs pos="100000">
                <a:srgbClr val="FF2D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bd-glow2"/>
          <p:cNvSpPr/>
          <p:nvPr/>
        </p:nvSpPr>
        <p:spPr>
          <a:xfrm>
            <a:off x="6477000" y="1714500"/>
            <a:ext cx="10287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8824"/>
                </a:srgbClr>
              </a:gs>
              <a:gs pos="42426">
                <a:srgbClr val="2DD4BF">
                  <a:alpha val="6275"/>
                </a:srgbClr>
              </a:gs>
              <a:gs pos="70711">
                <a:srgbClr val="2DD4BF">
                  <a:alpha val="0"/>
                </a:srgbClr>
              </a:gs>
              <a:gs pos="100000">
                <a:srgbClr val="2DD4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5" name="bd-lines-set"/>
          <p:cNvGrpSpPr/>
          <p:nvPr/>
        </p:nvGrpSpPr>
        <p:grpSpPr>
          <a:xfrm>
            <a:off x="0" y="76200"/>
            <a:ext cx="12192000" cy="6673850"/>
            <a:chOff x="0" y="0"/>
            <a:chExt cx="12192000" cy="6673850"/>
          </a:xfrm>
        </p:grpSpPr>
        <p:pic>
          <p:nvPicPr>
            <p:cNvPr id="4" name="bd-lines" descr="bd-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673850"/>
            </a:xfrm>
            <a:prstGeom prst="rect">
              <a:avLst/>
            </a:prstGeom>
          </p:spPr>
        </p:pic>
      </p:grpSp>
      <p:sp>
        <p:nvSpPr>
          <p:cNvPr id="6" name="end-title"/>
          <p:cNvSpPr>
            <a:spLocks noGrp="1"/>
          </p:cNvSpPr>
          <p:nvPr>
            <p:ph type="title"/>
          </p:nvPr>
        </p:nvSpPr>
        <p:spPr>
          <a:xfrm>
            <a:off x="889000" y="1357630"/>
            <a:ext cx="9755188" cy="12077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1EEE9"/>
                </a:solidFill>
                <a:latin typeface="Archivo"/>
                <a:ea typeface="Archivo"/>
                <a:cs typeface="Archivo"/>
              </a:rPr>
              <a:t>Run it on your machine.</a:t>
            </a:r>
            <a:endParaRPr lang="en-US" sz="5000" dirty="0"/>
          </a:p>
          <a:p>
            <a:pPr algn="l"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2D55"/>
                </a:solidFill>
                <a:latin typeface="Archivo"/>
                <a:ea typeface="Archivo"/>
                <a:cs typeface="Archivo"/>
              </a:rPr>
              <a:t>Share it on your terms.</a:t>
            </a:r>
            <a:endParaRPr lang="en-US" sz="5000" dirty="0"/>
          </a:p>
        </p:txBody>
      </p:sp>
      <p:sp>
        <p:nvSpPr>
          <p:cNvPr id="7" name="end-link"/>
          <p:cNvSpPr/>
          <p:nvPr/>
        </p:nvSpPr>
        <p:spPr>
          <a:xfrm>
            <a:off x="889000" y="2946400"/>
            <a:ext cx="2286000" cy="50800"/>
          </a:xfrm>
          <a:prstGeom prst="rect">
            <a:avLst/>
          </a:prstGeom>
          <a:gradFill rotWithShape="1">
            <a:gsLst>
              <a:gs pos="0">
                <a:srgbClr val="FF2D55"/>
              </a:gs>
              <a:gs pos="100000">
                <a:srgbClr val="2DD4BF"/>
              </a:gs>
            </a:gsLst>
            <a:lin ang="0" scaled="0"/>
          </a:gradFill>
          <a:ln>
            <a:noFill/>
          </a:ln>
        </p:spPr>
      </p:sp>
      <p:grpSp>
        <p:nvGrpSpPr>
          <p:cNvPr id="15" name="end-l0"/>
          <p:cNvGrpSpPr/>
          <p:nvPr/>
        </p:nvGrpSpPr>
        <p:grpSpPr>
          <a:xfrm>
            <a:off x="889000" y="3390900"/>
            <a:ext cx="1930400" cy="444500"/>
            <a:chOff x="0" y="0"/>
            <a:chExt cx="1930400" cy="444500"/>
          </a:xfrm>
        </p:grpSpPr>
        <p:grpSp>
          <p:nvGrpSpPr>
            <p:cNvPr id="13" name="end-l0-mark"/>
            <p:cNvGrpSpPr/>
            <p:nvPr/>
          </p:nvGrpSpPr>
          <p:grpSpPr>
            <a:xfrm>
              <a:off x="0" y="0"/>
              <a:ext cx="444500" cy="444500"/>
              <a:chOff x="0" y="0"/>
              <a:chExt cx="444500" cy="444500"/>
            </a:xfrm>
          </p:grpSpPr>
          <p:sp>
            <p:nvSpPr>
              <p:cNvPr id="8" name="end-l0-mark-tile"/>
              <p:cNvSpPr/>
              <p:nvPr/>
            </p:nvSpPr>
            <p:spPr>
              <a:xfrm>
                <a:off x="12700" y="12700"/>
                <a:ext cx="419100" cy="419100"/>
              </a:xfrm>
              <a:prstGeom prst="roundRect">
                <a:avLst>
                  <a:gd name="adj" fmla="val 21212"/>
                </a:avLst>
              </a:prstGeom>
              <a:solidFill>
                <a:srgbClr val="17171B"/>
              </a:solidFill>
              <a:ln w="12700">
                <a:solidFill>
                  <a:srgbClr val="3A3842"/>
                </a:solidFill>
              </a:ln>
            </p:spPr>
          </p:sp>
          <p:sp>
            <p:nvSpPr>
              <p:cNvPr id="9" name="end-l0-mark-rail"/>
              <p:cNvSpPr/>
              <p:nvPr/>
            </p:nvSpPr>
            <p:spPr>
              <a:xfrm>
                <a:off x="88900" y="349250"/>
                <a:ext cx="266700" cy="12700"/>
              </a:xfrm>
              <a:prstGeom prst="roundRect">
                <a:avLst>
                  <a:gd name="adj" fmla="val 50000"/>
                </a:avLst>
              </a:prstGeom>
              <a:solidFill>
                <a:srgbClr val="FF2D55"/>
              </a:solidFill>
              <a:ln>
                <a:noFill/>
              </a:ln>
            </p:spPr>
          </p:sp>
          <p:sp>
            <p:nvSpPr>
              <p:cNvPr id="10" name="end-l0-mark-halo"/>
              <p:cNvSpPr/>
              <p:nvPr/>
            </p:nvSpPr>
            <p:spPr>
              <a:xfrm>
                <a:off x="311150" y="38100"/>
                <a:ext cx="95250" cy="95250"/>
              </a:xfrm>
              <a:prstGeom prst="ellipse">
                <a:avLst/>
              </a:prstGeom>
              <a:solidFill>
                <a:srgbClr val="FF2D55">
                  <a:alpha val="21961"/>
                </a:srgbClr>
              </a:solidFill>
              <a:ln>
                <a:noFill/>
              </a:ln>
            </p:spPr>
          </p:sp>
          <p:sp>
            <p:nvSpPr>
              <p:cNvPr id="11" name="end-l0-mark-led"/>
              <p:cNvSpPr/>
              <p:nvPr/>
            </p:nvSpPr>
            <p:spPr>
              <a:xfrm>
                <a:off x="336550" y="63500"/>
                <a:ext cx="44450" cy="44450"/>
              </a:xfrm>
              <a:prstGeom prst="ellipse">
                <a:avLst/>
              </a:prstGeom>
              <a:solidFill>
                <a:srgbClr val="FF2D55"/>
              </a:solidFill>
              <a:ln>
                <a:noFill/>
              </a:ln>
            </p:spPr>
          </p:sp>
          <p:sp>
            <p:nvSpPr>
              <p:cNvPr id="12" name="end-l0-mark-jx"/>
              <p:cNvSpPr txBox="1"/>
              <p:nvPr/>
            </p:nvSpPr>
            <p:spPr>
              <a:xfrm>
                <a:off x="69850" y="32448"/>
                <a:ext cx="581025" cy="246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ts val="2236"/>
                  </a:lnSpc>
                  <a:buNone/>
                </a:pPr>
                <a:r>
                  <a:rPr lang="en-US" sz="1550" b="1" dirty="0">
                    <a:solidFill>
                      <a:srgbClr val="F1EEE9"/>
                    </a:solidFill>
                    <a:latin typeface="Archivo"/>
                    <a:ea typeface="Archivo"/>
                    <a:cs typeface="Archivo"/>
                  </a:rPr>
                  <a:t>JX</a:t>
                </a:r>
                <a:endParaRPr lang="en-US" sz="1550" dirty="0"/>
              </a:p>
            </p:txBody>
          </p:sp>
        </p:grpSp>
        <p:sp>
          <p:nvSpPr>
            <p:cNvPr id="14" name="end-l0-word"/>
            <p:cNvSpPr txBox="1"/>
            <p:nvPr/>
          </p:nvSpPr>
          <p:spPr>
            <a:xfrm>
              <a:off x="558800" y="40735"/>
              <a:ext cx="1714500" cy="3339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b="1" dirty="0">
                  <a:solidFill>
                    <a:srgbClr val="F1EEE9"/>
                  </a:solidFill>
                  <a:latin typeface="Archivo"/>
                  <a:ea typeface="Archivo"/>
                  <a:cs typeface="Archivo"/>
                </a:rPr>
                <a:t>JX</a:t>
              </a:r>
              <a:r>
                <a:rPr lang="en-US" sz="1750" b="1" dirty="0">
                  <a:solidFill>
                    <a:srgbClr val="B9B5C0"/>
                  </a:solidFill>
                  <a:latin typeface="Archivo"/>
                  <a:ea typeface="Archivo"/>
                  <a:cs typeface="Archivo"/>
                </a:rPr>
                <a:t> Runtime</a:t>
              </a:r>
              <a:endParaRPr lang="en-US" sz="1750" dirty="0"/>
            </a:p>
          </p:txBody>
        </p:sp>
      </p:grpSp>
      <p:sp>
        <p:nvSpPr>
          <p:cNvPr id="16" name="end-u0"/>
          <p:cNvSpPr txBox="1"/>
          <p:nvPr/>
        </p:nvSpPr>
        <p:spPr>
          <a:xfrm>
            <a:off x="889000" y="4038981"/>
            <a:ext cx="3722688" cy="2218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FF8FA6"/>
                </a:solidFill>
                <a:latin typeface="JetBrains Mono"/>
                <a:ea typeface="JetBrains Mono"/>
                <a:cs typeface="JetBrains Mono"/>
              </a:rPr>
              <a:t>github.com/jxburros/JX-Runtime</a:t>
            </a:r>
            <a:endParaRPr lang="en-US" sz="1300" dirty="0"/>
          </a:p>
        </p:txBody>
      </p:sp>
      <p:sp>
        <p:nvSpPr>
          <p:cNvPr id="17" name="end-s0"/>
          <p:cNvSpPr txBox="1"/>
          <p:nvPr/>
        </p:nvSpPr>
        <p:spPr>
          <a:xfrm>
            <a:off x="889000" y="4389222"/>
            <a:ext cx="4572000" cy="2208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Alpha. Release binaries are not yet code-signed.</a:t>
            </a:r>
            <a:endParaRPr lang="en-US" sz="1200" dirty="0"/>
          </a:p>
        </p:txBody>
      </p:sp>
      <p:grpSp>
        <p:nvGrpSpPr>
          <p:cNvPr id="27" name="end-l1"/>
          <p:cNvGrpSpPr/>
          <p:nvPr/>
        </p:nvGrpSpPr>
        <p:grpSpPr>
          <a:xfrm>
            <a:off x="6096000" y="3390900"/>
            <a:ext cx="1898650" cy="444500"/>
            <a:chOff x="0" y="0"/>
            <a:chExt cx="1898650" cy="444500"/>
          </a:xfrm>
        </p:grpSpPr>
        <p:grpSp>
          <p:nvGrpSpPr>
            <p:cNvPr id="25" name="end-l1-mark"/>
            <p:cNvGrpSpPr/>
            <p:nvPr/>
          </p:nvGrpSpPr>
          <p:grpSpPr>
            <a:xfrm>
              <a:off x="0" y="0"/>
              <a:ext cx="414655" cy="444500"/>
              <a:chOff x="0" y="0"/>
              <a:chExt cx="414655" cy="444500"/>
            </a:xfrm>
          </p:grpSpPr>
          <p:sp>
            <p:nvSpPr>
              <p:cNvPr id="18" name="end-l1-mark-f0"/>
              <p:cNvSpPr/>
              <p:nvPr/>
            </p:nvSpPr>
            <p:spPr>
              <a:xfrm>
                <a:off x="0" y="0"/>
                <a:ext cx="414655" cy="154305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2430">
                    <a:moveTo>
                      <a:pt x="3500" y="0"/>
                    </a:moveTo>
                    <a:lnTo>
                      <a:pt x="6530" y="1750"/>
                    </a:lnTo>
                    <a:lnTo>
                      <a:pt x="5020" y="2430"/>
                    </a:lnTo>
                    <a:lnTo>
                      <a:pt x="3500" y="1650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1D4A47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19" name="end-l1-mark-f1"/>
              <p:cNvSpPr/>
              <p:nvPr/>
            </p:nvSpPr>
            <p:spPr>
              <a:xfrm>
                <a:off x="0" y="0"/>
                <a:ext cx="414655" cy="333375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5250">
                    <a:moveTo>
                      <a:pt x="6530" y="1750"/>
                    </a:moveTo>
                    <a:lnTo>
                      <a:pt x="6530" y="5250"/>
                    </a:lnTo>
                    <a:lnTo>
                      <a:pt x="5020" y="4010"/>
                    </a:lnTo>
                    <a:lnTo>
                      <a:pt x="5020" y="2430"/>
                    </a:lnTo>
                    <a:lnTo>
                      <a:pt x="6530" y="1750"/>
                    </a:lnTo>
                    <a:close/>
                  </a:path>
                </a:pathLst>
              </a:custGeom>
              <a:solidFill>
                <a:srgbClr val="16262B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20" name="end-l1-mark-f2"/>
              <p:cNvSpPr/>
              <p:nvPr/>
            </p:nvSpPr>
            <p:spPr>
              <a:xfrm>
                <a:off x="0" y="0"/>
                <a:ext cx="414655" cy="444500"/>
              </a:xfrm>
              <a:custGeom>
                <a:avLst/>
                <a:gdLst/>
                <a:ahLst/>
                <a:cxnLst/>
                <a:rect l="0" t="0" r="r" b="b"/>
                <a:pathLst>
                  <a:path w="6530" h="7000">
                    <a:moveTo>
                      <a:pt x="6530" y="5250"/>
                    </a:moveTo>
                    <a:lnTo>
                      <a:pt x="3500" y="7000"/>
                    </a:lnTo>
                    <a:lnTo>
                      <a:pt x="3500" y="4800"/>
                    </a:lnTo>
                    <a:lnTo>
                      <a:pt x="5020" y="4010"/>
                    </a:lnTo>
                    <a:lnTo>
                      <a:pt x="6530" y="5250"/>
                    </a:lnTo>
                    <a:close/>
                  </a:path>
                </a:pathLst>
              </a:custGeom>
              <a:solidFill>
                <a:srgbClr val="0E1518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21" name="end-l1-mark-f3"/>
              <p:cNvSpPr/>
              <p:nvPr/>
            </p:nvSpPr>
            <p:spPr>
              <a:xfrm>
                <a:off x="0" y="0"/>
                <a:ext cx="222250" cy="444500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7000">
                    <a:moveTo>
                      <a:pt x="3500" y="7000"/>
                    </a:moveTo>
                    <a:lnTo>
                      <a:pt x="470" y="5250"/>
                    </a:lnTo>
                    <a:lnTo>
                      <a:pt x="1980" y="4010"/>
                    </a:lnTo>
                    <a:lnTo>
                      <a:pt x="3500" y="4800"/>
                    </a:lnTo>
                    <a:lnTo>
                      <a:pt x="3500" y="7000"/>
                    </a:lnTo>
                    <a:close/>
                  </a:path>
                </a:pathLst>
              </a:custGeom>
              <a:solidFill>
                <a:srgbClr val="070B0D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22" name="end-l1-mark-f4"/>
              <p:cNvSpPr/>
              <p:nvPr/>
            </p:nvSpPr>
            <p:spPr>
              <a:xfrm>
                <a:off x="0" y="0"/>
                <a:ext cx="125730" cy="333375"/>
              </a:xfrm>
              <a:custGeom>
                <a:avLst/>
                <a:gdLst/>
                <a:ahLst/>
                <a:cxnLst/>
                <a:rect l="0" t="0" r="r" b="b"/>
                <a:pathLst>
                  <a:path w="1980" h="5250">
                    <a:moveTo>
                      <a:pt x="470" y="5250"/>
                    </a:moveTo>
                    <a:lnTo>
                      <a:pt x="470" y="1750"/>
                    </a:lnTo>
                    <a:lnTo>
                      <a:pt x="1980" y="2430"/>
                    </a:lnTo>
                    <a:lnTo>
                      <a:pt x="1980" y="4010"/>
                    </a:lnTo>
                    <a:lnTo>
                      <a:pt x="470" y="5250"/>
                    </a:lnTo>
                    <a:close/>
                  </a:path>
                </a:pathLst>
              </a:custGeom>
              <a:solidFill>
                <a:srgbClr val="0B1114"/>
              </a:solidFill>
              <a:ln w="6350">
                <a:solidFill>
                  <a:srgbClr val="2DD4BF">
                    <a:alpha val="33333"/>
                  </a:srgbClr>
                </a:solidFill>
              </a:ln>
            </p:spPr>
          </p:sp>
          <p:sp>
            <p:nvSpPr>
              <p:cNvPr id="23" name="end-l1-mark-f5"/>
              <p:cNvSpPr/>
              <p:nvPr/>
            </p:nvSpPr>
            <p:spPr>
              <a:xfrm>
                <a:off x="0" y="0"/>
                <a:ext cx="222250" cy="154305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2430">
                    <a:moveTo>
                      <a:pt x="470" y="1750"/>
                    </a:moveTo>
                    <a:lnTo>
                      <a:pt x="3500" y="0"/>
                    </a:lnTo>
                    <a:lnTo>
                      <a:pt x="3500" y="1650"/>
                    </a:lnTo>
                    <a:lnTo>
                      <a:pt x="1980" y="2430"/>
                    </a:lnTo>
                    <a:lnTo>
                      <a:pt x="470" y="1750"/>
                    </a:lnTo>
                    <a:close/>
                  </a:path>
                </a:pathLst>
              </a:custGeom>
              <a:solidFill>
                <a:srgbClr val="1A2E33"/>
              </a:solidFill>
              <a:ln w="6350">
                <a:solidFill>
                  <a:srgbClr val="2DD4BF"/>
                </a:solidFill>
              </a:ln>
            </p:spPr>
          </p:sp>
          <p:sp>
            <p:nvSpPr>
              <p:cNvPr id="24" name="end-l1-mark-table"/>
              <p:cNvSpPr/>
              <p:nvPr/>
            </p:nvSpPr>
            <p:spPr>
              <a:xfrm>
                <a:off x="0" y="0"/>
                <a:ext cx="318770" cy="304800"/>
              </a:xfrm>
              <a:custGeom>
                <a:avLst/>
                <a:gdLst/>
                <a:ahLst/>
                <a:cxnLst/>
                <a:rect l="0" t="0" r="r" b="b"/>
                <a:pathLst>
                  <a:path w="5020" h="4800">
                    <a:moveTo>
                      <a:pt x="3500" y="1650"/>
                    </a:moveTo>
                    <a:lnTo>
                      <a:pt x="5020" y="2430"/>
                    </a:lnTo>
                    <a:lnTo>
                      <a:pt x="5020" y="4010"/>
                    </a:lnTo>
                    <a:lnTo>
                      <a:pt x="3500" y="4800"/>
                    </a:lnTo>
                    <a:lnTo>
                      <a:pt x="1980" y="4010"/>
                    </a:lnTo>
                    <a:lnTo>
                      <a:pt x="1980" y="2430"/>
                    </a:lnTo>
                    <a:lnTo>
                      <a:pt x="3500" y="1650"/>
                    </a:lnTo>
                    <a:close/>
                  </a:path>
                </a:pathLst>
              </a:custGeom>
              <a:solidFill>
                <a:srgbClr val="0A1013"/>
              </a:solidFill>
              <a:ln w="6350">
                <a:solidFill>
                  <a:srgbClr val="99F6E4"/>
                </a:solidFill>
              </a:ln>
            </p:spPr>
          </p:sp>
        </p:grpSp>
        <p:sp>
          <p:nvSpPr>
            <p:cNvPr id="26" name="end-l1-word"/>
            <p:cNvSpPr txBox="1"/>
            <p:nvPr/>
          </p:nvSpPr>
          <p:spPr>
            <a:xfrm>
              <a:off x="558800" y="61627"/>
              <a:ext cx="1674812" cy="3130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50" b="1" dirty="0">
                  <a:solidFill>
                    <a:srgbClr val="E6F2F1"/>
                  </a:solidFill>
                  <a:latin typeface="Space Grotesk"/>
                  <a:ea typeface="Space Grotesk"/>
                  <a:cs typeface="Space Grotesk"/>
                </a:rPr>
                <a:t>Onyx</a:t>
              </a:r>
              <a:r>
                <a:rPr lang="en-US" sz="1750" b="1" dirty="0">
                  <a:solidFill>
                    <a:srgbClr val="9AAEB2"/>
                  </a:solidFill>
                  <a:latin typeface="Space Grotesk"/>
                  <a:ea typeface="Space Grotesk"/>
                  <a:cs typeface="Space Grotesk"/>
                </a:rPr>
                <a:t> Engine</a:t>
              </a:r>
              <a:endParaRPr lang="en-US" sz="1750" dirty="0"/>
            </a:p>
          </p:txBody>
        </p:sp>
      </p:grpSp>
      <p:sp>
        <p:nvSpPr>
          <p:cNvPr id="28" name="end-u1"/>
          <p:cNvSpPr txBox="1"/>
          <p:nvPr/>
        </p:nvSpPr>
        <p:spPr>
          <a:xfrm>
            <a:off x="6096000" y="4038981"/>
            <a:ext cx="4706938" cy="2218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866"/>
              </a:lnSpc>
              <a:buNone/>
            </a:pPr>
            <a:r>
              <a:rPr lang="en-US" sz="1300" dirty="0">
                <a:solidFill>
                  <a:srgbClr val="99F6E4"/>
                </a:solidFill>
                <a:latin typeface="JetBrains Mono"/>
                <a:ea typeface="JetBrains Mono"/>
                <a:cs typeface="JetBrains Mono"/>
              </a:rPr>
              <a:t>github.com/JX-Holdings-LLC/Onyx-Engine</a:t>
            </a:r>
            <a:endParaRPr lang="en-US" sz="1300" dirty="0"/>
          </a:p>
        </p:txBody>
      </p:sp>
      <p:sp>
        <p:nvSpPr>
          <p:cNvPr id="29" name="end-s1"/>
          <p:cNvSpPr txBox="1"/>
          <p:nvPr/>
        </p:nvSpPr>
        <p:spPr>
          <a:xfrm>
            <a:off x="6096000" y="4389222"/>
            <a:ext cx="4572000" cy="424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B9B5C0"/>
                </a:solidFill>
                <a:latin typeface="Archivo"/>
                <a:ea typeface="Archivo"/>
                <a:cs typeface="Archivo"/>
              </a:rPr>
              <a:t>v0.4.0. Prebuilt for linux-x64, darwin-arm64, darwin-x64 and win32-x64.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Run it on your machine.
Share it on your terms.</dc:title>
  <dc:creator>Vixl</dc:creator>
</cp:coreProperties>
</file>